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7" r:id="rId2"/>
    <p:sldId id="257" r:id="rId3"/>
    <p:sldId id="278" r:id="rId4"/>
    <p:sldId id="279" r:id="rId5"/>
    <p:sldId id="265" r:id="rId6"/>
    <p:sldId id="280" r:id="rId7"/>
    <p:sldId id="266" r:id="rId8"/>
    <p:sldId id="267" r:id="rId9"/>
    <p:sldId id="281" r:id="rId10"/>
    <p:sldId id="274" r:id="rId11"/>
    <p:sldId id="268" r:id="rId12"/>
    <p:sldId id="269" r:id="rId13"/>
    <p:sldId id="270" r:id="rId14"/>
    <p:sldId id="271" r:id="rId15"/>
    <p:sldId id="272" r:id="rId16"/>
    <p:sldId id="273" r:id="rId17"/>
    <p:sldId id="275" r:id="rId18"/>
  </p:sldIdLst>
  <p:sldSz cx="12192000" cy="6858000"/>
  <p:notesSz cx="6888163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7559" userDrawn="1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1389" userDrawn="1">
          <p15:clr>
            <a:srgbClr val="A4A3A4"/>
          </p15:clr>
        </p15:guide>
        <p15:guide id="5" pos="914" userDrawn="1">
          <p15:clr>
            <a:srgbClr val="A4A3A4"/>
          </p15:clr>
        </p15:guide>
        <p15:guide id="6" orient="horz" pos="3543" userDrawn="1">
          <p15:clr>
            <a:srgbClr val="A4A3A4"/>
          </p15:clr>
        </p15:guide>
        <p15:guide id="7" orient="horz" pos="323" userDrawn="1">
          <p15:clr>
            <a:srgbClr val="A4A3A4"/>
          </p15:clr>
        </p15:guide>
        <p15:guide id="8" pos="121" userDrawn="1">
          <p15:clr>
            <a:srgbClr val="A4A3A4"/>
          </p15:clr>
        </p15:guide>
        <p15:guide id="9" pos="1459" userDrawn="1">
          <p15:clr>
            <a:srgbClr val="A4A3A4"/>
          </p15:clr>
        </p15:guide>
        <p15:guide id="10" pos="1958" userDrawn="1">
          <p15:clr>
            <a:srgbClr val="A4A3A4"/>
          </p15:clr>
        </p15:guide>
        <p15:guide id="11" pos="2389" userDrawn="1">
          <p15:clr>
            <a:srgbClr val="A4A3A4"/>
          </p15:clr>
        </p15:guide>
        <p15:guide id="12" pos="4362" userDrawn="1">
          <p15:clr>
            <a:srgbClr val="A4A3A4"/>
          </p15:clr>
        </p15:guide>
        <p15:guide id="13" pos="5428" userDrawn="1">
          <p15:clr>
            <a:srgbClr val="A4A3A4"/>
          </p15:clr>
        </p15:guide>
        <p15:guide id="14" pos="65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95326" autoAdjust="0"/>
  </p:normalViewPr>
  <p:slideViewPr>
    <p:cSldViewPr snapToGrid="0">
      <p:cViewPr varScale="1">
        <p:scale>
          <a:sx n="108" d="100"/>
          <a:sy n="108" d="100"/>
        </p:scale>
        <p:origin x="816" y="62"/>
      </p:cViewPr>
      <p:guideLst>
        <p:guide orient="horz" pos="3748"/>
        <p:guide pos="7559"/>
        <p:guide orient="horz" pos="1616"/>
        <p:guide orient="horz" pos="1389"/>
        <p:guide pos="914"/>
        <p:guide orient="horz" pos="3543"/>
        <p:guide orient="horz" pos="323"/>
        <p:guide pos="121"/>
        <p:guide pos="1459"/>
        <p:guide pos="1958"/>
        <p:guide pos="2389"/>
        <p:guide pos="4362"/>
        <p:guide pos="5428"/>
        <p:guide pos="6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2FDE2353-7306-46BC-B6DB-177DE301FB21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630D7574-5C8F-424D-810D-17B9E17299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6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defTabSz="966064" latinLnBrk="0">
              <a:buClr>
                <a:srgbClr val="000000"/>
              </a:buClr>
              <a:defRPr/>
            </a:pPr>
            <a:fld id="{00000000-1234-1234-1234-123412341234}" type="slidenum">
              <a:rPr lang="en-US" kern="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pPr defTabSz="966064" latinLnBrk="0">
                <a:buClr>
                  <a:srgbClr val="000000"/>
                </a:buClr>
                <a:defRPr/>
              </a:pPr>
              <a:t>2</a:t>
            </a:fld>
            <a:endParaRPr lang="en-US" kern="0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6086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D7574-5C8F-424D-810D-17B9E17299F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364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D7574-5C8F-424D-810D-17B9E17299F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238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D7574-5C8F-424D-810D-17B9E17299F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00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18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998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4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54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09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9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256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77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39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455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7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제목 1, 2, 3 + 주제글" userDrawn="1">
  <p:cSld name="4_제목 1, 2, 3 + 주제글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4;p203"/>
          <p:cNvSpPr txBox="1">
            <a:spLocks noGrp="1"/>
          </p:cNvSpPr>
          <p:nvPr>
            <p:ph type="title"/>
          </p:nvPr>
        </p:nvSpPr>
        <p:spPr>
          <a:xfrm>
            <a:off x="623887" y="136080"/>
            <a:ext cx="7817379" cy="380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900" b="1" i="0" u="none" strike="noStrike" cap="none" baseline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  <a:sym typeface="Open Sans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4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171;p203"/>
          <p:cNvSpPr txBox="1">
            <a:spLocks noGrp="1"/>
          </p:cNvSpPr>
          <p:nvPr>
            <p:ph type="body" idx="1"/>
          </p:nvPr>
        </p:nvSpPr>
        <p:spPr>
          <a:xfrm>
            <a:off x="623888" y="855504"/>
            <a:ext cx="1134110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1" i="0" u="none" strike="noStrike" cap="none" baseline="0">
                <a:solidFill>
                  <a:schemeClr val="dk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  <a:sym typeface="Open Sans"/>
              </a:defRPr>
            </a:lvl1pPr>
            <a:lvl2pPr marL="914400" marR="0" lvl="1" indent="-342900" algn="l" rtl="0"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Gulim"/>
              <a:buChar char="•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&gt;"/>
              <a:defRPr sz="1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="" xmlns:a16="http://schemas.microsoft.com/office/drawing/2014/main" id="{5B01F0BA-70BC-2435-27CB-D690316EE06A}"/>
              </a:ext>
            </a:extLst>
          </p:cNvPr>
          <p:cNvSpPr txBox="1">
            <a:spLocks/>
          </p:cNvSpPr>
          <p:nvPr userDrawn="1"/>
        </p:nvSpPr>
        <p:spPr>
          <a:xfrm>
            <a:off x="9520519" y="8966"/>
            <a:ext cx="2671482" cy="648259"/>
          </a:xfrm>
          <a:prstGeom prst="rect">
            <a:avLst/>
          </a:prstGeom>
          <a:noFill/>
        </p:spPr>
        <p:txBody>
          <a:bodyPr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 sz="9600" b="1">
                <a:solidFill>
                  <a:srgbClr val="000000"/>
                </a:solidFill>
                <a:latin typeface="Helvetica"/>
              </a:defRPr>
            </a:pPr>
            <a:r>
              <a:rPr lang="en-US" altLang="ko-KR" sz="1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AI  METHODOLOGY</a:t>
            </a:r>
          </a:p>
        </p:txBody>
      </p:sp>
      <p:sp>
        <p:nvSpPr>
          <p:cNvPr id="7" name="Rectangle 3"/>
          <p:cNvSpPr/>
          <p:nvPr userDrawn="1"/>
        </p:nvSpPr>
        <p:spPr>
          <a:xfrm>
            <a:off x="1" y="634290"/>
            <a:ext cx="12192000" cy="4571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503672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393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981" userDrawn="1">
          <p15:clr>
            <a:srgbClr val="FBAE40"/>
          </p15:clr>
        </p15:guide>
        <p15:guide id="7" orient="horz" pos="75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E34F5-B14D-4BD2-A13F-36505BAF910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09BDF-C819-478E-A4AF-09A9F2244B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18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915" y="548640"/>
            <a:ext cx="20345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787878"/>
                </a:solidFill>
                <a:latin typeface="Helvetica"/>
              </a:defRPr>
            </a:pPr>
            <a:r>
              <a:rPr sz="1000" dirty="0"/>
              <a:t>AI SYSTEM DOCUMENTATION</a:t>
            </a:r>
          </a:p>
          <a:p>
            <a:pPr>
              <a:defRPr sz="1000">
                <a:solidFill>
                  <a:srgbClr val="787878"/>
                </a:solidFill>
                <a:latin typeface="Helvetica"/>
              </a:defRPr>
            </a:pPr>
            <a:r>
              <a:rPr sz="1000" dirty="0"/>
              <a:t>Version 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5914" y="2286000"/>
            <a:ext cx="9144000" cy="2743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9600" b="1">
                <a:solidFill>
                  <a:srgbClr val="000000"/>
                </a:solidFill>
                <a:latin typeface="Helvetica"/>
              </a:defRPr>
            </a:pPr>
            <a:r>
              <a:rPr sz="7200" dirty="0"/>
              <a:t>AI</a:t>
            </a:r>
          </a:p>
          <a:p>
            <a:pPr>
              <a:defRPr sz="9600" b="1">
                <a:solidFill>
                  <a:srgbClr val="000000"/>
                </a:solidFill>
                <a:latin typeface="Helvetica"/>
              </a:defRPr>
            </a:pPr>
            <a:r>
              <a:rPr sz="7200" dirty="0"/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5914" y="4754880"/>
            <a:ext cx="1828800" cy="45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5914" y="5029201"/>
            <a:ext cx="44337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  <a:latin typeface="Helvetica"/>
              </a:defRPr>
            </a:pPr>
            <a:r>
              <a:rPr sz="1400"/>
              <a:t>System Architecture · Agents · Protocol ·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914" y="6217920"/>
            <a:ext cx="110786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  <a:latin typeface="Helvetica"/>
              </a:defRPr>
            </a:pPr>
            <a:r>
              <a:rPr sz="1000"/>
              <a:t>Framework / Multi-Agent Structure / Operational Logic</a:t>
            </a:r>
          </a:p>
          <a:p>
            <a:pPr algn="r">
              <a:defRPr sz="1000">
                <a:solidFill>
                  <a:srgbClr val="787878"/>
                </a:solidFill>
                <a:latin typeface="Helvetica"/>
              </a:defRPr>
            </a:pPr>
            <a:r>
              <a:rPr sz="1000"/>
              <a:t>KY Song · Seoul · 2026</a:t>
            </a:r>
          </a:p>
        </p:txBody>
      </p:sp>
    </p:spTree>
    <p:extLst>
      <p:ext uri="{BB962C8B-B14F-4D97-AF65-F5344CB8AC3E}">
        <p14:creationId xmlns:p14="http://schemas.microsoft.com/office/powerpoint/2010/main" val="398862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28190" y="51019"/>
            <a:ext cx="7817379" cy="380104"/>
          </a:xfrm>
        </p:spPr>
        <p:txBody>
          <a:bodyPr/>
          <a:lstStyle/>
          <a:p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AI Agent </a:t>
            </a:r>
            <a:r>
              <a:rPr lang="ko-KR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방법론 개요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6881F8B9-BAB4-4A2A-A23C-2D2B78E7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48846"/>
            <a:ext cx="12192000" cy="1015622"/>
          </a:xfrm>
          <a:prstGeom prst="rect">
            <a:avLst/>
          </a:prstGeom>
        </p:spPr>
        <p:txBody>
          <a:bodyPr/>
          <a:lstStyle/>
          <a:p>
            <a:pPr indent="0" algn="ctr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ko-KR" altLang="en-US" sz="2000" dirty="0"/>
              <a:t>“</a:t>
            </a:r>
            <a:r>
              <a:rPr lang="en-US" altLang="ko-KR" sz="2000" dirty="0"/>
              <a:t>Agent </a:t>
            </a:r>
            <a:r>
              <a:rPr lang="ko-KR" altLang="en-US" sz="2000" dirty="0"/>
              <a:t>사고 방식 </a:t>
            </a:r>
            <a:r>
              <a:rPr lang="en-US" altLang="ko-KR" sz="2000" dirty="0"/>
              <a:t>+ </a:t>
            </a:r>
            <a:r>
              <a:rPr lang="ko-KR" altLang="en-US" sz="2000" dirty="0"/>
              <a:t>엔지니어링 방법론”을 </a:t>
            </a:r>
            <a:endParaRPr lang="en-US" altLang="ko-KR" sz="2000" dirty="0" smtClean="0"/>
          </a:p>
          <a:p>
            <a:pPr indent="0" algn="ctr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ko-KR" altLang="en-US" sz="2000" dirty="0" smtClean="0"/>
              <a:t>합친 구조의 방법론을 정의 하였습니다</a:t>
            </a:r>
            <a:r>
              <a:rPr lang="en-US" altLang="ko-KR" sz="2000" dirty="0" smtClean="0"/>
              <a:t>. </a:t>
            </a:r>
            <a:endParaRPr lang="en-US" altLang="ko-KR" sz="2000" b="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51" name="Freeform 4">
            <a:extLst>
              <a:ext uri="{FF2B5EF4-FFF2-40B4-BE49-F238E27FC236}">
                <a16:creationId xmlns="" xmlns:a16="http://schemas.microsoft.com/office/drawing/2014/main" id="{5EF7CB85-51CC-8344-AA07-03C4FBF6A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950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2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2" y="0"/>
                  <a:pt x="2206" y="494"/>
                  <a:pt x="2206" y="1102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1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="" xmlns:a16="http://schemas.microsoft.com/office/drawing/2014/main" id="{51FC69C7-41A7-4548-8328-1043A40FA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553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2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2" y="0"/>
                  <a:pt x="2206" y="494"/>
                  <a:pt x="2206" y="1102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2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3" name="Freeform 6">
            <a:extLst>
              <a:ext uri="{FF2B5EF4-FFF2-40B4-BE49-F238E27FC236}">
                <a16:creationId xmlns="" xmlns:a16="http://schemas.microsoft.com/office/drawing/2014/main" id="{E50BB04D-D5F9-C144-8BFB-EC08026E8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156" y="1928445"/>
            <a:ext cx="432000" cy="432000"/>
          </a:xfrm>
          <a:custGeom>
            <a:avLst/>
            <a:gdLst>
              <a:gd name="T0" fmla="*/ 2204 w 2205"/>
              <a:gd name="T1" fmla="*/ 1102 h 2206"/>
              <a:gd name="T2" fmla="*/ 2204 w 2205"/>
              <a:gd name="T3" fmla="*/ 1102 h 2206"/>
              <a:gd name="T4" fmla="*/ 1102 w 2205"/>
              <a:gd name="T5" fmla="*/ 2205 h 2206"/>
              <a:gd name="T6" fmla="*/ 1102 w 2205"/>
              <a:gd name="T7" fmla="*/ 2205 h 2206"/>
              <a:gd name="T8" fmla="*/ 0 w 2205"/>
              <a:gd name="T9" fmla="*/ 1102 h 2206"/>
              <a:gd name="T10" fmla="*/ 0 w 2205"/>
              <a:gd name="T11" fmla="*/ 1102 h 2206"/>
              <a:gd name="T12" fmla="*/ 1102 w 2205"/>
              <a:gd name="T13" fmla="*/ 0 h 2206"/>
              <a:gd name="T14" fmla="*/ 1102 w 2205"/>
              <a:gd name="T15" fmla="*/ 0 h 2206"/>
              <a:gd name="T16" fmla="*/ 2204 w 2205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5" h="2206">
                <a:moveTo>
                  <a:pt x="2204" y="1102"/>
                </a:moveTo>
                <a:lnTo>
                  <a:pt x="2204" y="1102"/>
                </a:lnTo>
                <a:cubicBezTo>
                  <a:pt x="2204" y="1711"/>
                  <a:pt x="1710" y="2205"/>
                  <a:pt x="1102" y="2205"/>
                </a:cubicBezTo>
                <a:lnTo>
                  <a:pt x="1102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2" y="0"/>
                </a:cubicBezTo>
                <a:lnTo>
                  <a:pt x="1102" y="0"/>
                </a:lnTo>
                <a:cubicBezTo>
                  <a:pt x="1710" y="0"/>
                  <a:pt x="2204" y="494"/>
                  <a:pt x="2204" y="1102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3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4" name="Freeform 7">
            <a:extLst>
              <a:ext uri="{FF2B5EF4-FFF2-40B4-BE49-F238E27FC236}">
                <a16:creationId xmlns="" xmlns:a16="http://schemas.microsoft.com/office/drawing/2014/main" id="{5286913F-7DCB-E445-8181-C5F94D26C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759" y="1928445"/>
            <a:ext cx="432000" cy="432000"/>
          </a:xfrm>
          <a:custGeom>
            <a:avLst/>
            <a:gdLst>
              <a:gd name="T0" fmla="*/ 2205 w 2206"/>
              <a:gd name="T1" fmla="*/ 1102 h 2206"/>
              <a:gd name="T2" fmla="*/ 2205 w 2206"/>
              <a:gd name="T3" fmla="*/ 1102 h 2206"/>
              <a:gd name="T4" fmla="*/ 1102 w 2206"/>
              <a:gd name="T5" fmla="*/ 2205 h 2206"/>
              <a:gd name="T6" fmla="*/ 1102 w 2206"/>
              <a:gd name="T7" fmla="*/ 2205 h 2206"/>
              <a:gd name="T8" fmla="*/ 0 w 2206"/>
              <a:gd name="T9" fmla="*/ 1102 h 2206"/>
              <a:gd name="T10" fmla="*/ 0 w 2206"/>
              <a:gd name="T11" fmla="*/ 1102 h 2206"/>
              <a:gd name="T12" fmla="*/ 1102 w 2206"/>
              <a:gd name="T13" fmla="*/ 0 h 2206"/>
              <a:gd name="T14" fmla="*/ 1102 w 2206"/>
              <a:gd name="T15" fmla="*/ 0 h 2206"/>
              <a:gd name="T16" fmla="*/ 2205 w 2206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6" h="2206">
                <a:moveTo>
                  <a:pt x="2205" y="1102"/>
                </a:moveTo>
                <a:lnTo>
                  <a:pt x="2205" y="1102"/>
                </a:lnTo>
                <a:cubicBezTo>
                  <a:pt x="2205" y="1711"/>
                  <a:pt x="1711" y="2205"/>
                  <a:pt x="1102" y="2205"/>
                </a:cubicBezTo>
                <a:lnTo>
                  <a:pt x="1102" y="2205"/>
                </a:lnTo>
                <a:cubicBezTo>
                  <a:pt x="493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3" y="0"/>
                  <a:pt x="1102" y="0"/>
                </a:cubicBezTo>
                <a:lnTo>
                  <a:pt x="1102" y="0"/>
                </a:lnTo>
                <a:cubicBezTo>
                  <a:pt x="1711" y="0"/>
                  <a:pt x="2205" y="494"/>
                  <a:pt x="2205" y="1102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4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55" name="Freeform 8">
            <a:extLst>
              <a:ext uri="{FF2B5EF4-FFF2-40B4-BE49-F238E27FC236}">
                <a16:creationId xmlns="" xmlns:a16="http://schemas.microsoft.com/office/drawing/2014/main" id="{7793049D-73EB-2D40-9816-FE9C6D6AC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362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1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1" y="0"/>
                  <a:pt x="2206" y="494"/>
                  <a:pt x="2206" y="1102"/>
                </a:cubicBezTo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5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62" name="Freeform 8">
            <a:extLst>
              <a:ext uri="{FF2B5EF4-FFF2-40B4-BE49-F238E27FC236}">
                <a16:creationId xmlns="" xmlns:a16="http://schemas.microsoft.com/office/drawing/2014/main" id="{7793049D-73EB-2D40-9816-FE9C6D6AC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3965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1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1" y="0"/>
                  <a:pt x="2206" y="494"/>
                  <a:pt x="2206" y="1102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6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768306"/>
              </p:ext>
            </p:extLst>
          </p:nvPr>
        </p:nvGraphicFramePr>
        <p:xfrm>
          <a:off x="213832" y="2467302"/>
          <a:ext cx="11673373" cy="391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216"/>
                <a:gridCol w="1576552"/>
                <a:gridCol w="1493615"/>
                <a:gridCol w="1575798"/>
                <a:gridCol w="1575798"/>
                <a:gridCol w="1575798"/>
                <a:gridCol w="1575798"/>
                <a:gridCol w="1575798"/>
              </a:tblGrid>
              <a:tr h="5108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lang="ko-KR" altLang="en-US" sz="1200" dirty="0">
                        <a:solidFill>
                          <a:srgbClr val="FFFF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err="1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SaaS</a:t>
                      </a:r>
                      <a:r>
                        <a:rPr lang="en-US" altLang="ko-KR" sz="1200" b="1" baseline="0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Foundation Design</a:t>
                      </a:r>
                      <a:endParaRPr lang="ko-KR" altLang="en-US" sz="1200" b="1" dirty="0" smtClean="0">
                        <a:solidFill>
                          <a:srgbClr val="FFFF00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Vision &amp; Role </a:t>
                      </a:r>
                    </a:p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Workflow </a:t>
                      </a:r>
                    </a:p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Capability </a:t>
                      </a:r>
                    </a:p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Simulation </a:t>
                      </a:r>
                    </a:p>
                    <a:p>
                      <a:pPr algn="ctr"/>
                      <a:r>
                        <a:rPr lang="ko-KR" altLang="en-US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테스트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Deploy &amp; </a:t>
                      </a:r>
                    </a:p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Monitoring</a:t>
                      </a:r>
                      <a:endParaRPr lang="ko-KR" altLang="en-US" sz="1200" b="1" dirty="0" smtClean="0">
                        <a:solidFill>
                          <a:srgbClr val="FFFF00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Evolution </a:t>
                      </a:r>
                    </a:p>
                    <a:p>
                      <a:pPr algn="ctr"/>
                      <a:r>
                        <a:rPr lang="en-US" altLang="ko-KR" sz="1200" b="1" dirty="0" smtClean="0">
                          <a:solidFill>
                            <a:srgbClr val="FFFF00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Loop</a:t>
                      </a:r>
                      <a:endParaRPr lang="ko-KR" altLang="en-US" sz="1200" b="1" dirty="0" smtClean="0">
                        <a:solidFill>
                          <a:srgbClr val="FFFF00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12936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SaaS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용 공통 </a:t>
                      </a:r>
                      <a:r>
                        <a:rPr lang="en-US" altLang="ko-KR" sz="1050" b="0" baseline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FullStack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구성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AI 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 왜 존재하는지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,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그리고 각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 어떤 책임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(R&amp;R)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을 가지는지 결정하는 단계입니다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들이 어떤 순서와 규칙으로 협업하는지 설계하는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 실제로 일할 수 있게 만드는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 (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기술구현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)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끼리 대화하면서 시스템을 검증하는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를 실제 환경에서 실행하고 행동을 관찰하는 단계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 실제로 실행된 이후의 로그와 결과를 분석해서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/ Workflow / Tool / Memory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를 개선하는 반복 운영 프로세스 단계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936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수행 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Activity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기술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스택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결정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공통 모듈 설계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DB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기반 설계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표준 포맷 정의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파일 의존성 순서 확정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보안 기준 설정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Problem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Role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Human-in-the-loop </a:t>
                      </a:r>
                    </a:p>
                    <a:p>
                      <a:pPr marL="177800" indent="-177800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ko-KR" altLang="en-US" sz="1050" b="0" dirty="0" smtClean="0">
                        <a:solidFill>
                          <a:srgbClr val="FFFF00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구조 작성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Decision Rule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Flow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연결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Memory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Skill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Conversation</a:t>
                      </a:r>
                    </a:p>
                    <a:p>
                      <a:pPr marL="177800" indent="-177800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 Simulation</a:t>
                      </a: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Failure Scenario </a:t>
                      </a:r>
                    </a:p>
                    <a:p>
                      <a:pPr marL="177800" indent="-177800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 테스트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Evaluation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기준 설정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Logging</a:t>
                      </a: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Observability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Guardrail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설정</a:t>
                      </a: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개선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177800" indent="-177800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Skill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업데이트</a:t>
                      </a:r>
                    </a:p>
                    <a:p>
                      <a:pPr latinLnBrk="1"/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07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Context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Layer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Foundation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(Boilerplate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기준 정의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Context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(Context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정의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Workflow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(Rule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생성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Architecture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(Skill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구현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Tests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(KPI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검증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Monitoring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(Monitoring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ko-KR" altLang="en-US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기준</a:t>
                      </a:r>
                      <a:r>
                        <a:rPr lang="en-US" altLang="ko-KR" sz="1050" b="0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Context </a:t>
                      </a:r>
                    </a:p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업데이트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5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Cursor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없음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없음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Rule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Skill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Rule+Skill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Rule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 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제헹동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Freeform 8">
            <a:extLst>
              <a:ext uri="{FF2B5EF4-FFF2-40B4-BE49-F238E27FC236}">
                <a16:creationId xmlns="" xmlns:a16="http://schemas.microsoft.com/office/drawing/2014/main" id="{7793049D-73EB-2D40-9816-FE9C6D6AC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7571" y="1928445"/>
            <a:ext cx="432000" cy="432000"/>
          </a:xfrm>
          <a:custGeom>
            <a:avLst/>
            <a:gdLst>
              <a:gd name="T0" fmla="*/ 2206 w 2207"/>
              <a:gd name="T1" fmla="*/ 1102 h 2206"/>
              <a:gd name="T2" fmla="*/ 2206 w 2207"/>
              <a:gd name="T3" fmla="*/ 1102 h 2206"/>
              <a:gd name="T4" fmla="*/ 1103 w 2207"/>
              <a:gd name="T5" fmla="*/ 2205 h 2206"/>
              <a:gd name="T6" fmla="*/ 1103 w 2207"/>
              <a:gd name="T7" fmla="*/ 2205 h 2206"/>
              <a:gd name="T8" fmla="*/ 0 w 2207"/>
              <a:gd name="T9" fmla="*/ 1102 h 2206"/>
              <a:gd name="T10" fmla="*/ 0 w 2207"/>
              <a:gd name="T11" fmla="*/ 1102 h 2206"/>
              <a:gd name="T12" fmla="*/ 1103 w 2207"/>
              <a:gd name="T13" fmla="*/ 0 h 2206"/>
              <a:gd name="T14" fmla="*/ 1103 w 2207"/>
              <a:gd name="T15" fmla="*/ 0 h 2206"/>
              <a:gd name="T16" fmla="*/ 2206 w 2207"/>
              <a:gd name="T17" fmla="*/ 1102 h 2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07" h="2206">
                <a:moveTo>
                  <a:pt x="2206" y="1102"/>
                </a:moveTo>
                <a:lnTo>
                  <a:pt x="2206" y="1102"/>
                </a:lnTo>
                <a:cubicBezTo>
                  <a:pt x="2206" y="1711"/>
                  <a:pt x="1711" y="2205"/>
                  <a:pt x="1103" y="2205"/>
                </a:cubicBezTo>
                <a:lnTo>
                  <a:pt x="1103" y="2205"/>
                </a:lnTo>
                <a:cubicBezTo>
                  <a:pt x="494" y="2205"/>
                  <a:pt x="0" y="1711"/>
                  <a:pt x="0" y="1102"/>
                </a:cubicBezTo>
                <a:lnTo>
                  <a:pt x="0" y="1102"/>
                </a:lnTo>
                <a:cubicBezTo>
                  <a:pt x="0" y="494"/>
                  <a:pt x="494" y="0"/>
                  <a:pt x="1103" y="0"/>
                </a:cubicBezTo>
                <a:lnTo>
                  <a:pt x="1103" y="0"/>
                </a:lnTo>
                <a:cubicBezTo>
                  <a:pt x="1711" y="0"/>
                  <a:pt x="2206" y="494"/>
                  <a:pt x="2206" y="1102"/>
                </a:cubicBezTo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Helvetica" panose="020B0604020202020204" pitchFamily="34" charset="0"/>
                <a:ea typeface="HY동녘M" panose="02030600000101010101" pitchFamily="18" charset="-127"/>
                <a:cs typeface="Helvetica" panose="020B0604020202020204" pitchFamily="34" charset="0"/>
              </a:rPr>
              <a:t>7</a:t>
            </a:r>
            <a:endParaRPr lang="en-US" sz="2400" b="1" dirty="0">
              <a:solidFill>
                <a:schemeClr val="bg1"/>
              </a:solidFill>
              <a:latin typeface="Helvetica" panose="020B0604020202020204" pitchFamily="34" charset="0"/>
              <a:ea typeface="HY동녘M" panose="02030600000101010101" pitchFamily="18" charset="-127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52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623887" y="136080"/>
            <a:ext cx="8596313" cy="37192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0.SaaS Foundation Design </a:t>
            </a:r>
            <a:r>
              <a:rPr lang="ko-KR" altLang="en-US" dirty="0" smtClean="0"/>
              <a:t>단계</a:t>
            </a:r>
            <a:endParaRPr lang="ko-KR" altLang="en-US" sz="1900" b="1" dirty="0">
              <a:sym typeface="Open Sans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="" xmlns:a16="http://schemas.microsoft.com/office/drawing/2014/main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="" xmlns:a16="http://schemas.microsoft.com/office/drawing/2014/main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285171"/>
              </p:ext>
            </p:extLst>
          </p:nvPr>
        </p:nvGraphicFramePr>
        <p:xfrm>
          <a:off x="623888" y="855505"/>
          <a:ext cx="10844212" cy="4297519"/>
        </p:xfrm>
        <a:graphic>
          <a:graphicData uri="http://schemas.openxmlformats.org/drawingml/2006/table">
            <a:tbl>
              <a:tblPr/>
              <a:tblGrid>
                <a:gridCol w="1612293">
                  <a:extLst>
                    <a:ext uri="{9D8B030D-6E8A-4147-A177-3AD203B41FA5}">
                      <a16:colId xmlns="" xmlns:a16="http://schemas.microsoft.com/office/drawing/2014/main" val="173352676"/>
                    </a:ext>
                  </a:extLst>
                </a:gridCol>
                <a:gridCol w="1091710">
                  <a:extLst>
                    <a:ext uri="{9D8B030D-6E8A-4147-A177-3AD203B41FA5}">
                      <a16:colId xmlns="" xmlns:a16="http://schemas.microsoft.com/office/drawing/2014/main" val="1698800095"/>
                    </a:ext>
                  </a:extLst>
                </a:gridCol>
                <a:gridCol w="1091710"/>
                <a:gridCol w="838200"/>
                <a:gridCol w="4034521"/>
                <a:gridCol w="2175778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30785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2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(</a:t>
                      </a:r>
                      <a:r>
                        <a:rPr kumimoji="0" lang="en-US" altLang="ko-KR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word,md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)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1398306"/>
                  </a:ext>
                </a:extLst>
              </a:tr>
              <a:tr h="30785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8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0752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</a:t>
                      </a: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 </a:t>
                      </a:r>
                      <a:r>
                        <a:rPr lang="en-US" altLang="ko-KR" sz="1100" b="0" i="0" u="none" strike="noStrike" kern="1200" cap="none" baseline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SaaS</a:t>
                      </a: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 Foundation Design 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단계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77496958"/>
                  </a:ext>
                </a:extLst>
              </a:tr>
              <a:tr h="461782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0.1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개발 프레임워크 설계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PM · AI Architect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Orch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초안 생성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0.1.1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기술 </a:t>
                      </a:r>
                      <a:r>
                        <a:rPr lang="ko-KR" alt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스택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결정 </a:t>
                      </a:r>
                      <a:endParaRPr lang="en-US" altLang="ko-KR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(</a:t>
                      </a:r>
                      <a:r>
                        <a:rPr lang="en-US" altLang="ko-KR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FastAPI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/ Next.js / </a:t>
                      </a:r>
                      <a:r>
                        <a:rPr lang="en-US" altLang="ko-KR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PostgreSQL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/ </a:t>
                      </a:r>
                      <a:r>
                        <a:rPr lang="en-US" altLang="ko-KR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Redis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0.1 AI Agent Development Framework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0.1.2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29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 설계 결정 및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ADR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24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0.1.3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멀티테넌시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·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보안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· </a:t>
                      </a:r>
                      <a:r>
                        <a:rPr lang="ko-KR" altLang="en-US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거버넌스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기준 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0.2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구현 가이드 작성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PM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AI Architect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Backeend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Dev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Orch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초안 생성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0.2.1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 / Frontend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파일 생성 순서 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15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단계 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0.1.2 AI Agent SaaS — Implementation Guide</a:t>
                      </a:r>
                      <a:endParaRPr lang="ko-KR" altLang="en-US" sz="1050" b="0" i="0" u="none" strike="noStrike" kern="1200" cap="none" baseline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1782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0.2.2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공통 모듈 코드 작성 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Auth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/ RBAC / </a:t>
                      </a: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BaseModel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/ Cache)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0.2.3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Phase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별 체크리스트 작성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kern="1200" cap="none" baseline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0.3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참조 카드 작성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PM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AI Architect</a:t>
                      </a:r>
                      <a:endParaRPr lang="ko-KR" altLang="en-US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Orch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초안 생성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0.3.1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네이밍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룰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(Python / </a:t>
                      </a:r>
                      <a:r>
                        <a:rPr lang="en-US" altLang="ko-KR" sz="1050" b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TypeScript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/ DB)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0.1.3 AI Agent </a:t>
                      </a:r>
                      <a:r>
                        <a:rPr lang="en-US" altLang="ko-KR" sz="1050" b="0" i="0" u="none" strike="noStrike" kern="1200" cap="none" baseline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SaaS</a:t>
                      </a: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 — Quick Reference Card</a:t>
                      </a:r>
                      <a:endParaRPr lang="ko-KR" altLang="en-US" sz="1050" b="0" i="0" u="none" strike="noStrike" kern="1200" cap="none" baseline="0" dirty="0" smtClean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0.3.2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에러 코드 체계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(ERR_AUTH / ERR_AGENT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등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9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0.3.3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API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패턴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·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표준 응답 포맷 정의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23888" y="5330676"/>
            <a:ext cx="10825161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SaaS Foundation Design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은 기술 </a:t>
            </a:r>
            <a:r>
              <a:rPr kumimoji="0" lang="ko-KR" sz="11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스택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보안 기준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거버넌스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 구조 등 프로젝트 전체 방향을 결정하는 단계입니다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이 결정들은 이후 모든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Phase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의 기준이 되므로 책임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(Accountable)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은 반드시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Human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에 귀속됩니다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 (01_principles.mdc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원칙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3 —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감사 가능성 우선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kumimoji="0" lang="en-US" altLang="ko-KR" sz="11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Agent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가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없음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이 아닌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보조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"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인 이유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Vision &amp; Role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단계와 달리 이 단계에서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Agent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는 문서 초안 생성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코드 패턴 제안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규칙 파일 작성을 보조합니다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실제로 이번 작업에서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Claude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가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3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개 문서와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.cursor/rules/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파일들을 초안으로 생성한 것이 그 역할에 해당합니다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단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, 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최종 확정은 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Human</a:t>
            </a:r>
            <a:r>
              <a:rPr kumimoji="0" 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이 검토 후 승인합니다</a:t>
            </a:r>
            <a:r>
              <a:rPr kumimoji="0" lang="ko-KR" altLang="ko-KR" sz="11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776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623887" y="136080"/>
            <a:ext cx="8596313" cy="37192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1. Vision &amp; Role </a:t>
            </a:r>
            <a:r>
              <a:rPr lang="ko-KR" altLang="en-US" dirty="0" smtClean="0"/>
              <a:t>정의 단계</a:t>
            </a:r>
            <a:endParaRPr lang="ko-KR" altLang="en-US" sz="1900" b="1" dirty="0">
              <a:sym typeface="Open Sans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="" xmlns:a16="http://schemas.microsoft.com/office/drawing/2014/main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="" xmlns:a16="http://schemas.microsoft.com/office/drawing/2014/main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915317"/>
              </p:ext>
            </p:extLst>
          </p:nvPr>
        </p:nvGraphicFramePr>
        <p:xfrm>
          <a:off x="400051" y="928689"/>
          <a:ext cx="11321950" cy="5600700"/>
        </p:xfrm>
        <a:graphic>
          <a:graphicData uri="http://schemas.openxmlformats.org/drawingml/2006/table">
            <a:tbl>
              <a:tblPr/>
              <a:tblGrid>
                <a:gridCol w="1533524">
                  <a:extLst>
                    <a:ext uri="{9D8B030D-6E8A-4147-A177-3AD203B41FA5}">
                      <a16:colId xmlns="" xmlns:a16="http://schemas.microsoft.com/office/drawing/2014/main" val="173352676"/>
                    </a:ext>
                  </a:extLst>
                </a:gridCol>
                <a:gridCol w="1553921"/>
                <a:gridCol w="1553921"/>
                <a:gridCol w="542713"/>
                <a:gridCol w="1962856"/>
                <a:gridCol w="573309"/>
                <a:gridCol w="1982290"/>
                <a:gridCol w="1619416"/>
              </a:tblGrid>
              <a:tr h="20686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100" b="1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1398306"/>
                  </a:ext>
                </a:extLst>
              </a:tr>
              <a:tr h="20686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100" b="1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6867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</a:t>
                      </a: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 </a:t>
                      </a:r>
                      <a:r>
                        <a:rPr lang="en-US" altLang="ko-KR" sz="1100" b="1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Vision &amp; Role </a:t>
                      </a:r>
                      <a:r>
                        <a:rPr lang="ko-KR" altLang="en-US" sz="1100" b="1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 단계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77496958"/>
                  </a:ext>
                </a:extLst>
              </a:tr>
              <a:tr h="200783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</a:t>
                      </a: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.1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Problem Framing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•</a:t>
                      </a:r>
                      <a:r>
                        <a:rPr lang="en-US" altLang="ko-KR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비즈니스 목표 승인</a:t>
                      </a:r>
                    </a:p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• </a:t>
                      </a:r>
                      <a:r>
                        <a:rPr lang="ko-KR" altLang="en-US" sz="105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리스크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수용 여부 결정</a:t>
                      </a:r>
                    </a:p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•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권한 범위 승인</a:t>
                      </a:r>
                    </a:p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•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최종 의사결정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/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요구사항 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Draft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</a:p>
                    <a:p>
                      <a:pPr algn="l"/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시장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사례 분석</a:t>
                      </a:r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문제정의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1.1.5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범위정의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</a:t>
                      </a:r>
                      <a:r>
                        <a:rPr lang="en-US" altLang="ko-KR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Problem</a:t>
                      </a:r>
                      <a:r>
                        <a:rPr lang="en-US" altLang="ko-KR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Framing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007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이해관계자 목표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1.1.6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가정 및 제약조건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0078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시장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상황 분석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1.1.7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AI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적용 가능성 검토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문제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영향 분석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1.1.8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성공지표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 Persona Definition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핵심 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Persona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선택</a:t>
                      </a:r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Persona Behavior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</a:t>
                      </a:r>
                      <a:endParaRPr lang="en-US" altLang="ko-KR" sz="105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l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Scenario Draft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Persona</a:t>
                      </a:r>
                      <a:r>
                        <a:rPr lang="en-US" altLang="ko-KR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Context Requirement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Persona Definition.docx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7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User Scenario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en-US" altLang="ko-KR" sz="1050" b="0" i="0" u="none" strike="noStrike" dirty="0" smtClean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1.2.4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AI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개입 포인트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 Agent Role Mapping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역할 </a:t>
                      </a:r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Scope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Responsibility Draft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05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vs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Agent 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역할 정의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 Agent R&amp;R Matrix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078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RACI Matrix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1.3.3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R&amp;R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핵심원칙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1.4 Authority Model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Authority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Level 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최종 승인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Authority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model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Draft 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생성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결정요약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Escalation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규칙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 Authority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Model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55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별 상세 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Authority Model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1.4.5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Authority Level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변경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절차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855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1.4.3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Authority Level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선정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체크리스트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078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1.5 Human-in-the-loop </a:t>
                      </a:r>
                      <a:r>
                        <a:rPr lang="ko-KR" altLang="en-US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구조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 기준 최종 </a:t>
                      </a:r>
                      <a:endParaRPr lang="en-US" altLang="ko-KR" sz="1050" b="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l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확정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Approval Gate </a:t>
                      </a:r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구조</a:t>
                      </a:r>
                      <a:r>
                        <a:rPr lang="ko-KR" altLang="en-US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Draft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HITL 3가지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패턴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1.5.4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Agent별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HITL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적용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기준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1.5.1</a:t>
                      </a:r>
                      <a:r>
                        <a:rPr lang="en-US" altLang="ko-KR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Human-AI Interaction </a:t>
                      </a:r>
                      <a:r>
                        <a:rPr lang="ko-KR" altLang="en-US" sz="105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모델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55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1.5.2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Human Override </a:t>
                      </a:r>
                      <a:r>
                        <a:rPr lang="ko-KR" altLang="en-US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발동 조건 및 절차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1.5.5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ApprovalGate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코드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구현</a:t>
                      </a:r>
                      <a:r>
                        <a:rPr lang="en-US" altLang="ko-KR" sz="105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기준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8554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1.5.3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Decision Gate 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구조 및 통과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거부</a:t>
                      </a:r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타입아웃 처리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2855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1.6 </a:t>
                      </a:r>
                      <a:r>
                        <a:rPr lang="ko-KR" altLang="en-US" sz="1050" b="0" i="0" u="none" strike="noStrike" kern="1200" cap="none" baseline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거버넌스</a:t>
                      </a:r>
                      <a:r>
                        <a:rPr lang="ko-KR" altLang="en-US" sz="105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 및 윤리기준</a:t>
                      </a:r>
                      <a:endParaRPr lang="ko-KR" altLang="en-US" sz="105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Governance Board </a:t>
                      </a:r>
                    </a:p>
                    <a:p>
                      <a:pPr algn="l"/>
                      <a:r>
                        <a:rPr lang="ko-KR" altLang="en-US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Charter</a:t>
                      </a:r>
                      <a:r>
                        <a:rPr lang="en-US" altLang="ko-KR" sz="105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Draft </a:t>
                      </a:r>
                      <a:r>
                        <a:rPr lang="ko-KR" altLang="en-US" sz="1050" b="0" baseline="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생상</a:t>
                      </a:r>
                      <a:endParaRPr lang="ko-KR" altLang="en-US" sz="105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1.6.1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AI </a:t>
                      </a:r>
                      <a:r>
                        <a:rPr lang="ko-KR" altLang="en-US" sz="105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거버넌스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헌장</a:t>
                      </a:r>
                      <a:endParaRPr lang="en-US" altLang="ko-KR" sz="105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latinLnBrk="1"/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(10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ko-KR" altLang="en-US" sz="105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조함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부록</a:t>
                      </a:r>
                      <a:r>
                        <a:rPr lang="en-US" altLang="ko-KR" sz="105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)</a:t>
                      </a:r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1.6.1 Governance </a:t>
                      </a:r>
                      <a:r>
                        <a:rPr lang="en-US" altLang="ko-KR" sz="105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Chater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66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xfrm>
            <a:off x="623887" y="136080"/>
            <a:ext cx="8596313" cy="37192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2. Agent Workflow </a:t>
            </a:r>
            <a:r>
              <a:rPr lang="ko-KR" altLang="en-US" dirty="0" smtClean="0"/>
              <a:t>단계</a:t>
            </a:r>
            <a:endParaRPr lang="ko-KR" altLang="en-US" sz="1900" b="1" dirty="0">
              <a:sym typeface="Open Sans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="" xmlns:a16="http://schemas.microsoft.com/office/drawing/2014/main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="" xmlns:a16="http://schemas.microsoft.com/office/drawing/2014/main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066524"/>
              </p:ext>
            </p:extLst>
          </p:nvPr>
        </p:nvGraphicFramePr>
        <p:xfrm>
          <a:off x="623889" y="855505"/>
          <a:ext cx="11393359" cy="4769005"/>
        </p:xfrm>
        <a:graphic>
          <a:graphicData uri="http://schemas.openxmlformats.org/drawingml/2006/table">
            <a:tbl>
              <a:tblPr/>
              <a:tblGrid>
                <a:gridCol w="1978634">
                  <a:extLst>
                    <a:ext uri="{9D8B030D-6E8A-4147-A177-3AD203B41FA5}">
                      <a16:colId xmlns="" xmlns:a16="http://schemas.microsoft.com/office/drawing/2014/main" val="173352676"/>
                    </a:ext>
                  </a:extLst>
                </a:gridCol>
                <a:gridCol w="2152387"/>
                <a:gridCol w="2152387">
                  <a:extLst>
                    <a:ext uri="{9D8B030D-6E8A-4147-A177-3AD203B41FA5}">
                      <a16:colId xmlns="" xmlns:a16="http://schemas.microsoft.com/office/drawing/2014/main" val="3339535385"/>
                    </a:ext>
                  </a:extLst>
                </a:gridCol>
                <a:gridCol w="505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18089">
                  <a:extLst>
                    <a:ext uri="{9D8B030D-6E8A-4147-A177-3AD203B41FA5}">
                      <a16:colId xmlns="" xmlns:a16="http://schemas.microsoft.com/office/drawing/2014/main" val="653261259"/>
                    </a:ext>
                  </a:extLst>
                </a:gridCol>
                <a:gridCol w="228595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32566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4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1398306"/>
                  </a:ext>
                </a:extLst>
              </a:tr>
              <a:tr h="32566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2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7515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2. </a:t>
                      </a: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Workflow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025331"/>
                  </a:ext>
                </a:extLst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 Agent 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계층 구조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방향 결정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Layer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구조 초안 생성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Layer </a:t>
                      </a:r>
                      <a:r>
                        <a:rPr lang="ko-KR" altLang="en-US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 및 역할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 Workflow Diagram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16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계층간 통제 규칙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</a:t>
                      </a:r>
                      <a:r>
                        <a:rPr lang="en-US" altLang="ko-KR" sz="110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Workflow Diagram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흐름 승인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Flow Diagram 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생성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Diagram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별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특징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2.3 Decision Gate 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정의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승인 단계 정의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Gate logic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 제안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2.3.1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목록 및 위치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2.3.2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처리 규칙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2.4 Tool Invocation Flow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r>
                        <a:rPr lang="ko-KR" altLang="en-US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권한 승인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Flow Draft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2.4.1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목록 및 사용 기준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2.4.2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호출 표준 절차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2.5 Escalation Rule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에스컬레이션 기준 정의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Escalation </a:t>
                      </a: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경로 초안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2.5.1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트리거별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Escalation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경로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2.5.2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Escalation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SLA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2.6 Agent Interaction Spec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통신 정책 결정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메시지 구조 초안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2.6.1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메시지 구조 표준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8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2.6.2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통신 규칙 정의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56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3.Capability </a:t>
            </a:r>
            <a:r>
              <a:rPr lang="ko-KR" altLang="en-US" dirty="0" smtClean="0"/>
              <a:t>구축 </a:t>
            </a:r>
            <a:endParaRPr lang="ko-KR" altLang="en-US" sz="1900" b="1" dirty="0">
              <a:sym typeface="Open San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="" xmlns:a16="http://schemas.microsoft.com/office/drawing/2014/main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768929"/>
              </p:ext>
            </p:extLst>
          </p:nvPr>
        </p:nvGraphicFramePr>
        <p:xfrm>
          <a:off x="623888" y="855505"/>
          <a:ext cx="11393360" cy="4769008"/>
        </p:xfrm>
        <a:graphic>
          <a:graphicData uri="http://schemas.openxmlformats.org/drawingml/2006/table">
            <a:tbl>
              <a:tblPr/>
              <a:tblGrid>
                <a:gridCol w="1693939">
                  <a:extLst>
                    <a:ext uri="{9D8B030D-6E8A-4147-A177-3AD203B41FA5}">
                      <a16:colId xmlns="" xmlns:a16="http://schemas.microsoft.com/office/drawing/2014/main" val="173352676"/>
                    </a:ext>
                  </a:extLst>
                </a:gridCol>
                <a:gridCol w="1869158">
                  <a:extLst>
                    <a:ext uri="{9D8B030D-6E8A-4147-A177-3AD203B41FA5}">
                      <a16:colId xmlns="" xmlns:a16="http://schemas.microsoft.com/office/drawing/2014/main" val="1698800095"/>
                    </a:ext>
                  </a:extLst>
                </a:gridCol>
                <a:gridCol w="1869158">
                  <a:extLst>
                    <a:ext uri="{9D8B030D-6E8A-4147-A177-3AD203B41FA5}">
                      <a16:colId xmlns="" xmlns:a16="http://schemas.microsoft.com/office/drawing/2014/main" val="3339535385"/>
                    </a:ext>
                  </a:extLst>
                </a:gridCol>
                <a:gridCol w="492369"/>
                <a:gridCol w="3397348">
                  <a:extLst>
                    <a:ext uri="{9D8B030D-6E8A-4147-A177-3AD203B41FA5}">
                      <a16:colId xmlns="" xmlns:a16="http://schemas.microsoft.com/office/drawing/2014/main" val="653261259"/>
                    </a:ext>
                  </a:extLst>
                </a:gridCol>
                <a:gridCol w="2071388"/>
              </a:tblGrid>
              <a:tr h="2980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1398306"/>
                  </a:ext>
                </a:extLst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8063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i="0" u="none" strike="noStrike" kern="1200" cap="none" baseline="0" dirty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3</a:t>
                      </a:r>
                      <a:r>
                        <a:rPr lang="en-US" altLang="ko-KR" sz="10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.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Capability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구축</a:t>
                      </a: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77496958"/>
                  </a:ext>
                </a:extLst>
              </a:tr>
              <a:tr h="298063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 System Prompt </a:t>
                      </a:r>
                      <a:r>
                        <a:rPr lang="ko-KR" altLang="en-US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7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전체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Prompt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전문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공통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Guardrail G-00-1~8 + Decision Gate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별 규칙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Prompt Injection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방어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버전 관리 기준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 h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Agent별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System Prompt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전문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(Instruction Layer)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 System Prompt Spec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8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.1.2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Guardrail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정의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(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허용•금지•에스컬레이션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규칙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포함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3.1.3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System Prompt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설계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원칙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및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공통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구조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3.1.4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Prompt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버전 관리 기준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806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3.2 Skill</a:t>
                      </a:r>
                      <a:r>
                        <a:rPr lang="en-US" altLang="ko-KR" sz="1000" b="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Library</a:t>
                      </a: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gridSpan="2"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Core Skill 4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Back-A/Front-A/Test-A/</a:t>
                      </a:r>
                      <a:r>
                        <a:rPr lang="en-US" altLang="ko-KR" sz="100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Evol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-A Domain Skill 9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Skill Registry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구조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버전 관리 기준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3.2.1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Agent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별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Skill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목록 및 인터페이스 정의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3.2 Skill Library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3.2.2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Skill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등록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호출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버전 관리 기준</a:t>
                      </a:r>
                      <a:endParaRPr lang="ko-KR" altLang="ko-KR" sz="1000" b="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3.2.3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Skill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의존성 및 권한 </a:t>
                      </a:r>
                      <a:r>
                        <a:rPr lang="ko-KR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매핑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3.3 Tool </a:t>
                      </a:r>
                      <a:r>
                        <a:rPr lang="en-US" altLang="ko-KR" sz="1000" b="0" i="0" u="none" strike="noStrike" kern="1200" cap="none" baseline="0" dirty="0" err="1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Config</a:t>
                      </a: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gridSpan="2"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Internal/Agent/External Tool 8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Agent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별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Permission Matrix + Error Handling + Circuit Breaker + </a:t>
                      </a:r>
                      <a:r>
                        <a:rPr lang="ko-KR" altLang="en-US" sz="1000" dirty="0" err="1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환경별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 설정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3.3.1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Agent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별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Tool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목록 및 권한 정의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3.3 Tool </a:t>
                      </a:r>
                      <a:r>
                        <a:rPr lang="en-US" altLang="ko-KR" sz="1000" b="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Config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3.3.2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Tool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호출 흐름 및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Error Handling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정의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3.3.3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Permission </a:t>
                      </a:r>
                      <a:r>
                        <a:rPr lang="ko-KR" altLang="ko-KR" sz="1000" b="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설정 및 외부 연동 보안 기준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 Memory Spec</a:t>
                      </a: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gridSpan="2"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4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계층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Memory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구조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(Context/Session/Episodic/Semantic) + Retrieval Rule + DB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스키마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개인정보 처리 방침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+ </a:t>
                      </a:r>
                      <a:r>
                        <a:rPr lang="ko-KR" altLang="en-US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보존 정책</a:t>
                      </a:r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3.4.1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Memory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유형별 저장 구조 및 스키마 정의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 Memory Spec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3.4.2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Retrieval Rule (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조회 우선순위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필터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만료 정책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806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 sz="1000" b="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3.4.3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개인정보 처리 방침 및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Memory </a:t>
                      </a:r>
                      <a:r>
                        <a:rPr lang="ko-KR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생명주기 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6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altLang="ko-KR" sz="1900" b="1" dirty="0">
                <a:sym typeface="Open Sans"/>
              </a:rPr>
              <a:t>2. R&amp;R </a:t>
            </a:r>
            <a:r>
              <a:rPr lang="ko-KR" altLang="en-US" sz="1900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 smtClean="0"/>
              <a:t>4.Simulation </a:t>
            </a:r>
            <a:r>
              <a:rPr lang="en-US" altLang="ko-KR" dirty="0" smtClean="0"/>
              <a:t>Test</a:t>
            </a:r>
            <a:endParaRPr lang="ko-KR" altLang="en-US" sz="1900" b="1" dirty="0">
              <a:sym typeface="Open San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="" xmlns:a16="http://schemas.microsoft.com/office/drawing/2014/main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719926"/>
              </p:ext>
            </p:extLst>
          </p:nvPr>
        </p:nvGraphicFramePr>
        <p:xfrm>
          <a:off x="623888" y="855507"/>
          <a:ext cx="11393358" cy="5094442"/>
        </p:xfrm>
        <a:graphic>
          <a:graphicData uri="http://schemas.openxmlformats.org/drawingml/2006/table">
            <a:tbl>
              <a:tblPr/>
              <a:tblGrid>
                <a:gridCol w="2478038">
                  <a:extLst>
                    <a:ext uri="{9D8B030D-6E8A-4147-A177-3AD203B41FA5}">
                      <a16:colId xmlns="" xmlns:a16="http://schemas.microsoft.com/office/drawing/2014/main" val="173352676"/>
                    </a:ext>
                  </a:extLst>
                </a:gridCol>
                <a:gridCol w="1510635"/>
                <a:gridCol w="2294734">
                  <a:extLst>
                    <a:ext uri="{9D8B030D-6E8A-4147-A177-3AD203B41FA5}">
                      <a16:colId xmlns="" xmlns:a16="http://schemas.microsoft.com/office/drawing/2014/main" val="3339535385"/>
                    </a:ext>
                  </a:extLst>
                </a:gridCol>
                <a:gridCol w="5059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18089">
                  <a:extLst>
                    <a:ext uri="{9D8B030D-6E8A-4147-A177-3AD203B41FA5}">
                      <a16:colId xmlns="" xmlns:a16="http://schemas.microsoft.com/office/drawing/2014/main" val="653261259"/>
                    </a:ext>
                  </a:extLst>
                </a:gridCol>
                <a:gridCol w="228595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33257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4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1398306"/>
                  </a:ext>
                </a:extLst>
              </a:tr>
              <a:tr h="33257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sz="1400" b="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7510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4. </a:t>
                      </a:r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Simulation Test</a:t>
                      </a:r>
                      <a:endParaRPr lang="ko-KR" altLang="en-US" sz="10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025331"/>
                  </a:ext>
                </a:extLst>
              </a:tr>
              <a:tr h="311676">
                <a:tc rowSpan="2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4.1 Agent Role-play Simulation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4.1.1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Multi-Agent Test Run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3">
                  <a:txBody>
                    <a:bodyPr/>
                    <a:lstStyle/>
                    <a:p>
                      <a:pPr algn="l" fontAlgn="ctr"/>
                      <a:r>
                        <a:rPr lang="en-US" altLang="ko-KR" sz="10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4.1</a:t>
                      </a:r>
                      <a:r>
                        <a:rPr lang="en-US" altLang="ko-KR" sz="1000" baseline="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Simulation Test</a:t>
                      </a:r>
                      <a:endParaRPr lang="en-US" altLang="ko-KR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4.1.2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Conversation Log </a:t>
                      </a: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생성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rowSpan="2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4.2 Failure Scenario Test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4.2.1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Loop Failure Test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4.2.2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Role Conflict Test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rowSpan="3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4.3 Governance Compliance Test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4.3.1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ApprovalGate Flow Test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4.3.2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Scope Validation Test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4.3.3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AuditLog</a:t>
                      </a: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 Integrity Test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rowSpan="2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4.4 </a:t>
                      </a: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SaaS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 Isolation Test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4.4.1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Multi-Tenant Isolation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4.4.2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Cross-Tenant Access Denial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rowSpan="2">
                  <a:txBody>
                    <a:bodyPr/>
                    <a:lstStyle/>
                    <a:p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4.5 KPI Baseline Measurement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4.5.1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Framework KPI </a:t>
                      </a: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측정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16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4.5.2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Performance Benchmark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167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+mn-cs"/>
                        </a:rPr>
                        <a:t>4.6 Evaluation Report &amp; G-07 Gate</a:t>
                      </a:r>
                      <a:endParaRPr lang="ko-KR" altLang="ko-KR" sz="1000" kern="1200" dirty="0" smtClean="0">
                        <a:solidFill>
                          <a:schemeClr val="tx1"/>
                        </a:solidFill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000" b="0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4.6.1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Evaluation Report </a:t>
                      </a: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작성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altLang="ko-KR" sz="1000" dirty="0"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676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4.6.2</a:t>
                      </a:r>
                      <a:endParaRPr lang="ko-KR" sz="1000" b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Bef>
                          <a:spcPts val="1440"/>
                        </a:spcBef>
                        <a:spcAft>
                          <a:spcPts val="0"/>
                        </a:spcAft>
                      </a:pPr>
                      <a:r>
                        <a:rPr lang="en-US" sz="1000" b="0" dirty="0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G-07 Gate </a:t>
                      </a:r>
                      <a:r>
                        <a:rPr lang="en-US" sz="1000" b="0" dirty="0" err="1">
                          <a:effectLst/>
                          <a:latin typeface="휴먼모음T" panose="02030504000101010101" pitchFamily="18" charset="-127"/>
                          <a:ea typeface="휴먼모음T" panose="02030504000101010101" pitchFamily="18" charset="-127"/>
                          <a:cs typeface="Times New Roman" panose="02020603050405020304" pitchFamily="18" charset="0"/>
                        </a:rPr>
                        <a:t>승인</a:t>
                      </a:r>
                      <a:endParaRPr lang="ko-KR" sz="1000" b="0" dirty="0">
                        <a:effectLst/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05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ko-KR" b="1" dirty="0">
                <a:sym typeface="Open Sans"/>
              </a:rPr>
              <a:t>2. R&amp;R </a:t>
            </a:r>
            <a:r>
              <a:rPr lang="ko-KR" altLang="en-US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>
                <a:sym typeface="Arial"/>
              </a:rPr>
              <a:t>5. </a:t>
            </a:r>
            <a:r>
              <a:rPr lang="en-US" altLang="ko-KR" dirty="0"/>
              <a:t>Deploy &amp; </a:t>
            </a:r>
            <a:r>
              <a:rPr lang="en-US" altLang="ko-KR" dirty="0" smtClean="0"/>
              <a:t>Monitoring</a:t>
            </a:r>
            <a:r>
              <a:rPr lang="ko-KR" altLang="en-US" dirty="0">
                <a:sym typeface="Arial"/>
              </a:rPr>
              <a:t/>
            </a:r>
            <a:br>
              <a:rPr lang="ko-KR" altLang="en-US" dirty="0">
                <a:sym typeface="Arial"/>
              </a:rPr>
            </a:br>
            <a:r>
              <a:rPr lang="en-US" altLang="ko-KR" dirty="0" smtClean="0"/>
              <a:t> </a:t>
            </a:r>
            <a:endParaRPr lang="ko-KR" altLang="en-US" dirty="0">
              <a:sym typeface="Arial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="" xmlns:a16="http://schemas.microsoft.com/office/drawing/2014/main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="" xmlns:a16="http://schemas.microsoft.com/office/drawing/2014/main" id="{664171A4-2C95-7E74-924F-1BDA36B4E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31823"/>
              </p:ext>
            </p:extLst>
          </p:nvPr>
        </p:nvGraphicFramePr>
        <p:xfrm>
          <a:off x="623886" y="855504"/>
          <a:ext cx="11376026" cy="2750993"/>
        </p:xfrm>
        <a:graphic>
          <a:graphicData uri="http://schemas.openxmlformats.org/drawingml/2006/table">
            <a:tbl>
              <a:tblPr/>
              <a:tblGrid>
                <a:gridCol w="1691361">
                  <a:extLst>
                    <a:ext uri="{9D8B030D-6E8A-4147-A177-3AD203B41FA5}">
                      <a16:colId xmlns="" xmlns:a16="http://schemas.microsoft.com/office/drawing/2014/main" val="173352676"/>
                    </a:ext>
                  </a:extLst>
                </a:gridCol>
                <a:gridCol w="2291243">
                  <a:extLst>
                    <a:ext uri="{9D8B030D-6E8A-4147-A177-3AD203B41FA5}">
                      <a16:colId xmlns="" xmlns:a16="http://schemas.microsoft.com/office/drawing/2014/main" val="1698800095"/>
                    </a:ext>
                  </a:extLst>
                </a:gridCol>
                <a:gridCol w="2291243">
                  <a:extLst>
                    <a:ext uri="{9D8B030D-6E8A-4147-A177-3AD203B41FA5}">
                      <a16:colId xmlns="" xmlns:a16="http://schemas.microsoft.com/office/drawing/2014/main" val="3339535385"/>
                    </a:ext>
                  </a:extLst>
                </a:gridCol>
                <a:gridCol w="5051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14563">
                  <a:extLst>
                    <a:ext uri="{9D8B030D-6E8A-4147-A177-3AD203B41FA5}">
                      <a16:colId xmlns="" xmlns:a16="http://schemas.microsoft.com/office/drawing/2014/main" val="653261259"/>
                    </a:ext>
                  </a:extLst>
                </a:gridCol>
                <a:gridCol w="2282482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38897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200" b="1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1398306"/>
                  </a:ext>
                </a:extLst>
              </a:tr>
              <a:tr h="38897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7361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5.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Deploy &amp; Monitoring 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77496958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 Logging Setup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 Policy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Logging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Config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Message Trace </a:t>
                      </a:r>
                      <a:r>
                        <a:rPr lang="ko-KR" altLang="en-US" sz="110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저장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5.1.1 Logging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Config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1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Log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기록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Observability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KPI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선택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Metric Report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Monitoring Dashboard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5.2.1 Monitoring Dashboard</a:t>
                      </a:r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42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Alert Rule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설정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72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ctr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ko-KR" b="1" dirty="0">
                <a:sym typeface="Open Sans"/>
              </a:rPr>
              <a:t>2. R&amp;R </a:t>
            </a:r>
            <a:r>
              <a:rPr lang="ko-KR" altLang="en-US" b="1" dirty="0">
                <a:sym typeface="Open Sans"/>
              </a:rPr>
              <a:t>및 산출물 </a:t>
            </a:r>
            <a:r>
              <a:rPr lang="en-US" altLang="ko-KR" dirty="0"/>
              <a:t>&gt; </a:t>
            </a:r>
            <a:r>
              <a:rPr lang="en-US" altLang="ko-KR" dirty="0">
                <a:sym typeface="Arial"/>
              </a:rPr>
              <a:t>5. </a:t>
            </a:r>
            <a:r>
              <a:rPr lang="en-US" altLang="ko-KR" dirty="0"/>
              <a:t>Deploy &amp; Monitoring </a:t>
            </a:r>
            <a:r>
              <a:rPr lang="en-US" altLang="ko-KR" dirty="0" smtClean="0"/>
              <a:t>/ </a:t>
            </a:r>
            <a:r>
              <a:rPr lang="en-US" altLang="ko-KR" dirty="0">
                <a:sym typeface="Arial"/>
              </a:rPr>
              <a:t>6. </a:t>
            </a:r>
            <a:r>
              <a:rPr lang="en-US" altLang="ko-KR" dirty="0"/>
              <a:t>Evolution Loop</a:t>
            </a:r>
            <a:r>
              <a:rPr lang="ko-KR" altLang="en-US" dirty="0">
                <a:sym typeface="Arial"/>
              </a:rPr>
              <a:t/>
            </a:r>
            <a:br>
              <a:rPr lang="ko-KR" altLang="en-US" dirty="0">
                <a:sym typeface="Arial"/>
              </a:rPr>
            </a:br>
            <a:r>
              <a:rPr lang="en-US" altLang="ko-KR" dirty="0" smtClean="0"/>
              <a:t> </a:t>
            </a:r>
            <a:endParaRPr lang="ko-KR" altLang="en-US" dirty="0">
              <a:sym typeface="Arial"/>
            </a:endParaRPr>
          </a:p>
        </p:txBody>
      </p:sp>
      <p:sp>
        <p:nvSpPr>
          <p:cNvPr id="10" name="텍스트 개체 틀 1">
            <a:extLst>
              <a:ext uri="{FF2B5EF4-FFF2-40B4-BE49-F238E27FC236}">
                <a16:creationId xmlns="" xmlns:a16="http://schemas.microsoft.com/office/drawing/2014/main" id="{8FF3E8BA-552F-4C3D-9453-4164F9077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285750" algn="r">
              <a:lnSpc>
                <a:spcPct val="130000"/>
              </a:lnSpc>
              <a:spcBef>
                <a:spcPts val="600"/>
              </a:spcBef>
              <a:buClr>
                <a:schemeClr val="bg1"/>
              </a:buClr>
              <a:buSzPct val="100000"/>
              <a:buFont typeface="+mj-lt"/>
              <a:buAutoNum type="romanUcPeriod" startAt="2"/>
            </a:pPr>
            <a:r>
              <a:rPr lang="ko-KR" altLang="en-US" sz="1100" b="1" dirty="0">
                <a:solidFill>
                  <a:schemeClr val="bg1"/>
                </a:solidFill>
                <a:sym typeface="Open Sans"/>
              </a:rPr>
              <a:t>추진방법 및 산출물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="" xmlns:a16="http://schemas.microsoft.com/office/drawing/2014/main" id="{664171A4-2C95-7E74-924F-1BDA36B4E0A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3886" y="855504"/>
          <a:ext cx="11376026" cy="5526250"/>
        </p:xfrm>
        <a:graphic>
          <a:graphicData uri="http://schemas.openxmlformats.org/drawingml/2006/table">
            <a:tbl>
              <a:tblPr/>
              <a:tblGrid>
                <a:gridCol w="1691361">
                  <a:extLst>
                    <a:ext uri="{9D8B030D-6E8A-4147-A177-3AD203B41FA5}">
                      <a16:colId xmlns="" xmlns:a16="http://schemas.microsoft.com/office/drawing/2014/main" val="173352676"/>
                    </a:ext>
                  </a:extLst>
                </a:gridCol>
                <a:gridCol w="2291243">
                  <a:extLst>
                    <a:ext uri="{9D8B030D-6E8A-4147-A177-3AD203B41FA5}">
                      <a16:colId xmlns="" xmlns:a16="http://schemas.microsoft.com/office/drawing/2014/main" val="1698800095"/>
                    </a:ext>
                  </a:extLst>
                </a:gridCol>
                <a:gridCol w="2291243">
                  <a:extLst>
                    <a:ext uri="{9D8B030D-6E8A-4147-A177-3AD203B41FA5}">
                      <a16:colId xmlns="" xmlns:a16="http://schemas.microsoft.com/office/drawing/2014/main" val="3339535385"/>
                    </a:ext>
                  </a:extLst>
                </a:gridCol>
                <a:gridCol w="5051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14563">
                  <a:extLst>
                    <a:ext uri="{9D8B030D-6E8A-4147-A177-3AD203B41FA5}">
                      <a16:colId xmlns="" xmlns:a16="http://schemas.microsoft.com/office/drawing/2014/main" val="653261259"/>
                    </a:ext>
                  </a:extLst>
                </a:gridCol>
                <a:gridCol w="2282482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38897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Phase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&amp; Responsibility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WBS Task</a:t>
                      </a:r>
                      <a:endParaRPr lang="ko-KR" altLang="en-US" sz="1200" b="1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1398306"/>
                  </a:ext>
                </a:extLst>
              </a:tr>
              <a:tr h="38897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ko-KR" altLang="en-US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kumimoji="0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WBS Task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>
                      <a:lvl1pPr marL="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27858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55716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83575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114336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1392920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1671504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1950088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2228672" algn="l" defTabSz="557168" rtl="0" eaLnBrk="1" latinLnBrk="1" hangingPunct="1">
                        <a:defRPr sz="1097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7361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5.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Deploy &amp; Monitoring 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77496958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 Logging Setup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 Policy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승인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Logging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Config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Message Trace </a:t>
                      </a:r>
                      <a:r>
                        <a:rPr lang="ko-KR" altLang="en-US" sz="110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저장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5.1.1 Logging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Config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1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Log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기록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 </a:t>
                      </a:r>
                      <a:r>
                        <a:rPr lang="en-US" altLang="ko-KR" sz="11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Observability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KPI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선택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Metric Report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Monitoring Dashboard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구성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5.2.1 Monitoring Dashboard</a:t>
                      </a:r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42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ko-KR" altLang="en-US" sz="1100" dirty="0"/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5.2.2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Alert Rule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설정</a:t>
                      </a:r>
                      <a:endParaRPr lang="ko-KR" altLang="en-US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213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kern="1200" cap="none" baseline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  <a:sym typeface="Arial"/>
                        </a:rPr>
                        <a:t>6. </a:t>
                      </a: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Evolution Loop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0" i="0" u="none" strike="noStrike" kern="1200" cap="none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Arial" pitchFamily="34" charset="0"/>
                        <a:sym typeface="Arial"/>
                      </a:endParaRPr>
                    </a:p>
                  </a:txBody>
                  <a:tcPr marT="45717" marB="4571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F3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025331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6.1 Trajectory Log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수집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 대상 선정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 Aggregation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6.1.1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Execution Data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수집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6.1.1 Trajectory Dataset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01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6.1.2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Failure Tagging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0142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6.2 Behavior Evaluation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개선 우선순위 결정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Evaluation Report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생성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6.2.1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Behavior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분석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6.2.1 Evaluation Report</a:t>
                      </a:r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42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6.2.2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Usage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평가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335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6.3 Prompt &amp; Workflow Adjustment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변경 승인</a:t>
                      </a:r>
                      <a:endParaRPr lang="ko-KR" altLang="en-US" sz="1100" b="1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4138" marR="0" lvl="0" indent="-841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Patch Draft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작성</a:t>
                      </a:r>
                      <a:endParaRPr lang="ko-KR" altLang="en-US" sz="1100" b="0" i="0" u="none" strike="noStrike" kern="1200" cap="none" baseline="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  <a:sym typeface="Arial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6.3.1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수정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6.3.1 Updated Prompt</a:t>
                      </a:r>
                    </a:p>
                    <a:p>
                      <a:r>
                        <a:rPr lang="en-US" altLang="ko-KR" sz="11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6.3.2 Patch Note</a:t>
                      </a:r>
                    </a:p>
                    <a:p>
                      <a:endParaRPr lang="en-US" altLang="ko-KR" sz="11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90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855504"/>
            <a:ext cx="5472112" cy="3323946"/>
          </a:xfrm>
        </p:spPr>
        <p:txBody>
          <a:bodyPr/>
          <a:lstStyle/>
          <a:p>
            <a:r>
              <a:rPr lang="en-US" altLang="ko-KR" sz="1400" b="0" dirty="0"/>
              <a:t># RACI Definition</a:t>
            </a:r>
          </a:p>
          <a:p>
            <a:r>
              <a:rPr lang="en-US" altLang="ko-KR" sz="1400" b="0" dirty="0"/>
              <a:t>R = Responsible (</a:t>
            </a:r>
            <a:r>
              <a:rPr lang="ko-KR" altLang="en-US" sz="1400" b="0" dirty="0"/>
              <a:t>실행 주체</a:t>
            </a:r>
            <a:r>
              <a:rPr lang="en-US" altLang="ko-KR" sz="1400" b="0" dirty="0"/>
              <a:t>)</a:t>
            </a:r>
          </a:p>
          <a:p>
            <a:r>
              <a:rPr lang="en-US" altLang="ko-KR" sz="1400" b="0" dirty="0"/>
              <a:t>A = Accountable (</a:t>
            </a:r>
            <a:r>
              <a:rPr lang="ko-KR" altLang="en-US" sz="1400" b="0" dirty="0"/>
              <a:t>최종 책임</a:t>
            </a:r>
            <a:r>
              <a:rPr lang="en-US" altLang="ko-KR" sz="1400" b="0" dirty="0"/>
              <a:t>/</a:t>
            </a:r>
            <a:r>
              <a:rPr lang="ko-KR" altLang="en-US" sz="1400" b="0" dirty="0"/>
              <a:t>승인</a:t>
            </a:r>
            <a:r>
              <a:rPr lang="en-US" altLang="ko-KR" sz="1400" b="0" dirty="0"/>
              <a:t>)</a:t>
            </a:r>
          </a:p>
          <a:p>
            <a:r>
              <a:rPr lang="en-US" altLang="ko-KR" sz="1400" b="0" dirty="0"/>
              <a:t>C = Consulted (</a:t>
            </a:r>
            <a:r>
              <a:rPr lang="ko-KR" altLang="en-US" sz="1400" b="0" dirty="0"/>
              <a:t>협의</a:t>
            </a:r>
            <a:r>
              <a:rPr lang="en-US" altLang="ko-KR" sz="1400" b="0" dirty="0"/>
              <a:t>)</a:t>
            </a:r>
          </a:p>
          <a:p>
            <a:r>
              <a:rPr lang="en-US" altLang="ko-KR" sz="1400" b="0" dirty="0"/>
              <a:t>I = Informed (</a:t>
            </a:r>
            <a:r>
              <a:rPr lang="ko-KR" altLang="en-US" sz="1400" b="0" dirty="0"/>
              <a:t>공유</a:t>
            </a:r>
            <a:r>
              <a:rPr lang="en-US" altLang="ko-KR" sz="1400" b="0" dirty="0"/>
              <a:t>)</a:t>
            </a:r>
          </a:p>
          <a:p>
            <a:endParaRPr lang="en-US" altLang="ko-KR" sz="1400" b="0" dirty="0"/>
          </a:p>
          <a:p>
            <a:r>
              <a:rPr lang="ko-KR" altLang="en-US" sz="1400" b="0" dirty="0"/>
              <a:t>Human Roles:</a:t>
            </a:r>
          </a:p>
          <a:p>
            <a:r>
              <a:rPr lang="ko-KR" altLang="en-US" sz="1400" b="0" dirty="0"/>
              <a:t>PM / Architect / UIUX / Frontend / Backend / Test</a:t>
            </a:r>
          </a:p>
          <a:p>
            <a:endParaRPr lang="ko-KR" altLang="en-US" sz="1400" b="0" dirty="0"/>
          </a:p>
          <a:p>
            <a:r>
              <a:rPr lang="ko-KR" altLang="en-US" sz="1400" b="0" dirty="0"/>
              <a:t>Agent Roles:</a:t>
            </a:r>
          </a:p>
          <a:p>
            <a:r>
              <a:rPr lang="ko-KR" altLang="en-US" sz="1400" b="0" dirty="0"/>
              <a:t>⭐ Orchestrator Agent</a:t>
            </a:r>
          </a:p>
          <a:p>
            <a:r>
              <a:rPr lang="ko-KR" altLang="en-US" sz="1400" b="0" dirty="0"/>
              <a:t>UIUX Agent</a:t>
            </a:r>
          </a:p>
          <a:p>
            <a:r>
              <a:rPr lang="ko-KR" altLang="en-US" sz="1400" b="0" dirty="0"/>
              <a:t>Frontend Agent</a:t>
            </a:r>
          </a:p>
          <a:p>
            <a:r>
              <a:rPr lang="ko-KR" altLang="en-US" sz="1400" b="0" dirty="0"/>
              <a:t>Backend Agent</a:t>
            </a:r>
          </a:p>
          <a:p>
            <a:r>
              <a:rPr lang="ko-KR" altLang="en-US" sz="1400" b="0" dirty="0"/>
              <a:t>Test Agent</a:t>
            </a:r>
          </a:p>
        </p:txBody>
      </p:sp>
      <p:sp>
        <p:nvSpPr>
          <p:cNvPr id="4" name="제목 8"/>
          <p:cNvSpPr>
            <a:spLocks noGrp="1"/>
          </p:cNvSpPr>
          <p:nvPr>
            <p:ph type="title"/>
          </p:nvPr>
        </p:nvSpPr>
        <p:spPr>
          <a:xfrm>
            <a:off x="636587" y="80804"/>
            <a:ext cx="7817379" cy="380104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896522"/>
              </p:ext>
            </p:extLst>
          </p:nvPr>
        </p:nvGraphicFramePr>
        <p:xfrm>
          <a:off x="623886" y="4495800"/>
          <a:ext cx="11034714" cy="1885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4814"/>
                <a:gridCol w="5549900"/>
              </a:tblGrid>
              <a:tr h="36837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 Layer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 Layer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51757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방향</a:t>
                      </a: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책임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 오너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품질 오너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 Agent → Persona/Conversation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err="1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</a:t>
                      </a:r>
                      <a:r>
                        <a:rPr lang="en-US" altLang="ko-KR" sz="1400" baseline="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/</a:t>
                      </a: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 Agent → Tool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Agent → Evaluation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실행</a:t>
                      </a:r>
                    </a:p>
                    <a:p>
                      <a:pPr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altLang="ko-KR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Orchestrator Agent → </a:t>
                      </a:r>
                      <a:r>
                        <a:rPr lang="ko-KR" altLang="en-US" sz="14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전체 흐름 제어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6968066" y="855504"/>
            <a:ext cx="479213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# Dual-Layer RACI Matrix (Human + Agent Visible)</a:t>
            </a:r>
          </a:p>
          <a:p>
            <a:endParaRPr lang="ko-KR" altLang="en-US" sz="1400" dirty="0" smtClean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Legend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H-A = Human Accountable (최종 책임)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H-R = Human Responsible (실행 책임)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A-R = Agent Responsible (실행 Agent)</a:t>
            </a:r>
          </a:p>
          <a:p>
            <a:r>
              <a:rPr lang="ko-KR" altLang="en-US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A-S = Supporting Agent</a:t>
            </a:r>
          </a:p>
        </p:txBody>
      </p:sp>
    </p:spTree>
    <p:extLst>
      <p:ext uri="{BB962C8B-B14F-4D97-AF65-F5344CB8AC3E}">
        <p14:creationId xmlns:p14="http://schemas.microsoft.com/office/powerpoint/2010/main" val="86038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2071"/>
            <a:ext cx="1946367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 smtClean="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Vision &amp; Role </a:t>
            </a:r>
            <a:r>
              <a:rPr lang="ko-KR" altLang="en-US" sz="1600" dirty="0" smtClean="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정의</a:t>
            </a:r>
            <a:endParaRPr lang="ko-KR" altLang="en-US" sz="1600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326166" y="6012418"/>
            <a:ext cx="5346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Vision </a:t>
            </a:r>
            <a:r>
              <a:rPr lang="ko-KR" altLang="en-US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단계에서는 </a:t>
            </a:r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Agent</a:t>
            </a:r>
            <a:r>
              <a:rPr lang="ko-KR" altLang="en-US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는 주로 </a:t>
            </a:r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Support </a:t>
            </a:r>
            <a:r>
              <a:rPr lang="ko-KR" altLang="en-US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역할입니다</a:t>
            </a:r>
            <a:r>
              <a:rPr lang="en-US" altLang="ko-KR" dirty="0" smtClean="0">
                <a:latin typeface="휴먼모음T" panose="02030504000101010101" pitchFamily="18" charset="-127"/>
                <a:ea typeface="휴먼모음T" panose="02030504000101010101" pitchFamily="18" charset="-127"/>
              </a:rPr>
              <a:t>.</a:t>
            </a:r>
            <a:endParaRPr lang="ko-KR" altLang="en-US" dirty="0"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214120"/>
              </p:ext>
            </p:extLst>
          </p:nvPr>
        </p:nvGraphicFramePr>
        <p:xfrm>
          <a:off x="623885" y="1190624"/>
          <a:ext cx="11085510" cy="4429126"/>
        </p:xfrm>
        <a:graphic>
          <a:graphicData uri="http://schemas.openxmlformats.org/drawingml/2006/table">
            <a:tbl>
              <a:tblPr/>
              <a:tblGrid>
                <a:gridCol w="1020312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  <a:gridCol w="915018"/>
              </a:tblGrid>
              <a:tr h="515433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Detailed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Step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Human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33">
                <a:tc vMerge="1">
                  <a:txBody>
                    <a:bodyPr/>
                    <a:lstStyle/>
                    <a:p>
                      <a:pPr algn="ctr"/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PM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Architect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UIUX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Frontend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Backend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Test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Orchestra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UIUX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Test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Problem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Framing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Persona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Definition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Success </a:t>
                      </a:r>
                      <a:endParaRPr lang="en-US" sz="1200" dirty="0" smtClean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Metric</a:t>
                      </a:r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95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Agent Role Mapping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H-A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H-R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I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C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-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휴먼모음T" panose="02030504000101010101" pitchFamily="18" charset="-127"/>
                          <a:ea typeface="휴먼모음T" panose="02030504000101010101" pitchFamily="18" charset="-127"/>
                        </a:rPr>
                        <a:t>A-S</a:t>
                      </a:r>
                    </a:p>
                  </a:txBody>
                  <a:tcPr marL="82101" marR="82101" marT="41050" marB="4105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latin typeface="휴먼모음T" panose="02030504000101010101" pitchFamily="18" charset="-127"/>
                <a:ea typeface="휴먼모음T" panose="02030504000101010101" pitchFamily="18" charset="-127"/>
                <a:cs typeface="Open Sans"/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9518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2071"/>
            <a:ext cx="2229456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2. Agent Workflow </a:t>
            </a:r>
            <a:r>
              <a:rPr lang="ko-KR" altLang="en-US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단계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2321"/>
              </p:ext>
            </p:extLst>
          </p:nvPr>
        </p:nvGraphicFramePr>
        <p:xfrm>
          <a:off x="623888" y="1190625"/>
          <a:ext cx="11088686" cy="4429124"/>
        </p:xfrm>
        <a:graphic>
          <a:graphicData uri="http://schemas.openxmlformats.org/drawingml/2006/table">
            <a:tbl>
              <a:tblPr/>
              <a:tblGrid>
                <a:gridCol w="1039812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  <a:gridCol w="913534"/>
              </a:tblGrid>
              <a:tr h="472705">
                <a:tc row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945">
                <a:tc v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sz="1200" kern="1200" dirty="0">
                        <a:solidFill>
                          <a:schemeClr val="tx1"/>
                        </a:solidFill>
                        <a:latin typeface="휴먼모음T" panose="02030504000101010101" pitchFamily="18" charset="-127"/>
                        <a:ea typeface="휴먼모음T" panose="02030504000101010101" pitchFamily="18" charset="-127"/>
                        <a:cs typeface="+mn-cs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Interaction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Flow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Draft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Conversation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Turn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Decision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Gate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정의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70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Loop &amp;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Retry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Rule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451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Invocation </a:t>
                      </a: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Flow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70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Escalation 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Rule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3065" marR="53065" marT="26533" marB="26533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623888" y="5737910"/>
            <a:ext cx="110886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Architect = </a:t>
            </a:r>
            <a:r>
              <a:rPr 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설계 </a:t>
            </a:r>
            <a:r>
              <a:rPr 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오너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   </a:t>
            </a:r>
          </a:p>
          <a:p>
            <a:pPr algn="ctr"/>
            <a:r>
              <a:rPr lang="ko-KR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Orchestrator </a:t>
            </a:r>
            <a:r>
              <a:rPr lang="ko-KR" alt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= </a:t>
            </a:r>
            <a:r>
              <a:rPr lang="ko-KR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실제 흐름 실행</a:t>
            </a:r>
          </a:p>
        </p:txBody>
      </p:sp>
      <p:sp>
        <p:nvSpPr>
          <p:cNvPr id="12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5404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4075"/>
            <a:ext cx="1705916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3. Capability </a:t>
            </a:r>
            <a:r>
              <a:rPr lang="ko-KR" altLang="en-US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구축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88467"/>
              </p:ext>
            </p:extLst>
          </p:nvPr>
        </p:nvGraphicFramePr>
        <p:xfrm>
          <a:off x="623891" y="1196976"/>
          <a:ext cx="11088684" cy="4427537"/>
        </p:xfrm>
        <a:graphic>
          <a:graphicData uri="http://schemas.openxmlformats.org/drawingml/2006/table">
            <a:tbl>
              <a:tblPr/>
              <a:tblGrid>
                <a:gridCol w="1039809"/>
                <a:gridCol w="808305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497476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 vMerge="1">
                  <a:txBody>
                    <a:bodyPr/>
                    <a:lstStyle/>
                    <a:p>
                      <a:endParaRPr lang="en-US" sz="1200" dirty="0">
                        <a:latin typeface="휴먼모음T" panose="02030504000101010101" pitchFamily="18" charset="-127"/>
                        <a:ea typeface="휴먼모음T" panose="02030504000101010101" pitchFamily="18" charset="-127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467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System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설계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Interface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7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Memory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Architecture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7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Interaction 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Schema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Guardrail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ko-KR" alt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적용</a:t>
                      </a:r>
                      <a:endParaRPr lang="ko-KR" alt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378808" y="5949950"/>
            <a:ext cx="5448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 Agent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는 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 Schema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에서 핵심 실행자입니다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3448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36613"/>
            <a:ext cx="1931939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4. Simulation </a:t>
            </a:r>
            <a:r>
              <a:rPr lang="ko-KR" altLang="en-US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테스트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078666"/>
              </p:ext>
            </p:extLst>
          </p:nvPr>
        </p:nvGraphicFramePr>
        <p:xfrm>
          <a:off x="623890" y="1196975"/>
          <a:ext cx="11088684" cy="4427537"/>
        </p:xfrm>
        <a:graphic>
          <a:graphicData uri="http://schemas.openxmlformats.org/drawingml/2006/table">
            <a:tbl>
              <a:tblPr/>
              <a:tblGrid>
                <a:gridCol w="1039810"/>
                <a:gridCol w="808304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525245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245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Scenario </a:t>
                      </a:r>
                      <a:r>
                        <a:rPr lang="ko-KR" alt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</a:t>
                      </a:r>
                      <a:endParaRPr lang="ko-KR" alt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3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Role-play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Simulation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Role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Conflict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Tool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Failure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17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Evaluation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Report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9069" marR="69069" marT="34534" marB="34534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626762" y="5949950"/>
            <a:ext cx="4553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Simulation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은 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 + Orchestrator </a:t>
            </a:r>
            <a:r>
              <a:rPr lang="ko-KR" altLang="en-US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중심입니다</a:t>
            </a:r>
            <a:r>
              <a:rPr lang="en-US" altLang="ko-KR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.</a:t>
            </a:r>
            <a:endParaRPr lang="ko-KR" altLang="en-US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587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58421"/>
            <a:ext cx="2258952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5. Deploy &amp; Monitoring</a:t>
            </a:r>
            <a:endParaRPr lang="ko-KR" altLang="en-US" sz="1600" dirty="0">
              <a:solidFill>
                <a:schemeClr val="bg1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524571"/>
              </p:ext>
            </p:extLst>
          </p:nvPr>
        </p:nvGraphicFramePr>
        <p:xfrm>
          <a:off x="623890" y="1196976"/>
          <a:ext cx="11088684" cy="4427537"/>
        </p:xfrm>
        <a:graphic>
          <a:graphicData uri="http://schemas.openxmlformats.org/drawingml/2006/table">
            <a:tbl>
              <a:tblPr/>
              <a:tblGrid>
                <a:gridCol w="1039810"/>
                <a:gridCol w="808304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51317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50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778">
                <a:tc vMerge="1"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9714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Deployment Pipeline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3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Logging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Setup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14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Observability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 Setup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30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Runtime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Control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2664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623888" y="836613"/>
            <a:ext cx="1768433" cy="33855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6. Evolution Loop</a:t>
            </a:r>
            <a:endParaRPr lang="ko-KR" altLang="en-US" sz="1600" dirty="0">
              <a:solidFill>
                <a:schemeClr val="bg1"/>
              </a:solidFill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720542"/>
              </p:ext>
            </p:extLst>
          </p:nvPr>
        </p:nvGraphicFramePr>
        <p:xfrm>
          <a:off x="623890" y="1196975"/>
          <a:ext cx="11088684" cy="4427539"/>
        </p:xfrm>
        <a:graphic>
          <a:graphicData uri="http://schemas.openxmlformats.org/drawingml/2006/table">
            <a:tbl>
              <a:tblPr/>
              <a:tblGrid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  <a:gridCol w="924057"/>
              </a:tblGrid>
              <a:tr h="58257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Detailed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Step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Human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71">
                <a:tc vMerge="1"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PM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Architect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Orchestra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UIUX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Frontend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Backend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Test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Agent</a:t>
                      </a:r>
                      <a:endParaRPr lang="en-US" sz="1200" dirty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5825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Trajectory Log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수집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34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Behavior Evaluation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734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Prompt Adjustment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7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Workflow Patch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57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UI </a:t>
                      </a:r>
                      <a:endParaRPr lang="en-US" sz="1200" dirty="0" smtClean="0">
                        <a:latin typeface="Helvetica" panose="020B0604020202020204" pitchFamily="34" charset="0"/>
                        <a:ea typeface="휴먼모음T" panose="02030504000101010101" pitchFamily="18" charset="-127"/>
                        <a:cs typeface="Helvetica" panose="020B0604020202020204" pitchFamily="34" charset="0"/>
                      </a:endParaRPr>
                    </a:p>
                    <a:p>
                      <a:pPr algn="ctr"/>
                      <a:r>
                        <a:rPr lang="ko-KR" altLang="en-US" sz="1200" dirty="0" smtClean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개선 </a:t>
                      </a:r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반영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H-A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H-R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I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C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⭐ </a:t>
                      </a:r>
                      <a:r>
                        <a:rPr lang="en-US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A-R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Helvetica" panose="020B0604020202020204" pitchFamily="34" charset="0"/>
                          <a:ea typeface="휴먼모음T" panose="02030504000101010101" pitchFamily="18" charset="-127"/>
                          <a:cs typeface="Helvetica" panose="020B0604020202020204" pitchFamily="34" charset="0"/>
                        </a:rPr>
                        <a:t>-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제목 8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sz="1900" b="1" dirty="0" smtClean="0">
                <a:sym typeface="Open Sans"/>
              </a:rPr>
              <a:t>3. </a:t>
            </a:r>
            <a:r>
              <a:rPr lang="en-US" altLang="ko-KR" dirty="0" smtClean="0"/>
              <a:t>Human-AI RACI </a:t>
            </a:r>
            <a:r>
              <a:rPr lang="en-US" altLang="ko-KR" dirty="0"/>
              <a:t>Matrix </a:t>
            </a:r>
            <a:endParaRPr lang="ko-KR" altLang="en-US" sz="1900" b="1" dirty="0"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62050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AI </a:t>
            </a:r>
            <a:r>
              <a:rPr lang="en-US" altLang="ko-KR" dirty="0"/>
              <a:t>Agent Dual-Layer Organization Structure (Human + Agent)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23888" y="1213048"/>
            <a:ext cx="4814138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HUMAN ORGANIZATION LAYER (Governance / Decision)</a:t>
            </a:r>
          </a:p>
        </p:txBody>
      </p:sp>
      <p:sp>
        <p:nvSpPr>
          <p:cNvPr id="7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1" y="2205038"/>
            <a:ext cx="1797050" cy="414720"/>
          </a:xfrm>
          <a:prstGeom prst="roundRect">
            <a:avLst>
              <a:gd name="adj" fmla="val 950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Project Manager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8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1" y="3446080"/>
            <a:ext cx="1797050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Architect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9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9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UI/UX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0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1491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1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093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12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896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cxnSp>
        <p:nvCxnSpPr>
          <p:cNvPr id="14" name="직선 연결선 13"/>
          <p:cNvCxnSpPr>
            <a:stCxn id="7" idx="2"/>
            <a:endCxn id="8" idx="0"/>
          </p:cNvCxnSpPr>
          <p:nvPr/>
        </p:nvCxnSpPr>
        <p:spPr>
          <a:xfrm>
            <a:off x="3279776" y="2619758"/>
            <a:ext cx="0" cy="8263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8" idx="2"/>
            <a:endCxn id="9" idx="0"/>
          </p:cNvCxnSpPr>
          <p:nvPr/>
        </p:nvCxnSpPr>
        <p:spPr>
          <a:xfrm rot="5400000">
            <a:off x="1950494" y="3132798"/>
            <a:ext cx="601280" cy="2057285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8" idx="2"/>
            <a:endCxn id="10" idx="0"/>
          </p:cNvCxnSpPr>
          <p:nvPr/>
        </p:nvCxnSpPr>
        <p:spPr>
          <a:xfrm rot="5400000">
            <a:off x="2614295" y="3796599"/>
            <a:ext cx="601280" cy="72968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8" idx="2"/>
            <a:endCxn id="11" idx="0"/>
          </p:cNvCxnSpPr>
          <p:nvPr/>
        </p:nvCxnSpPr>
        <p:spPr>
          <a:xfrm rot="16200000" flipH="1">
            <a:off x="3278095" y="3862480"/>
            <a:ext cx="601280" cy="5979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8" idx="2"/>
            <a:endCxn id="12" idx="0"/>
          </p:cNvCxnSpPr>
          <p:nvPr/>
        </p:nvCxnSpPr>
        <p:spPr>
          <a:xfrm rot="16200000" flipH="1">
            <a:off x="3979997" y="3160579"/>
            <a:ext cx="601280" cy="20017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324163" y="2850634"/>
            <a:ext cx="23323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Vision / Strategy / Approval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23888" y="5370493"/>
            <a:ext cx="51038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UIUX : Persona / Interaction Design</a:t>
            </a:r>
            <a:b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 : UI Engineering / Human Interface Layer </a:t>
            </a:r>
          </a:p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 : Tool / API / Runtime</a:t>
            </a:r>
            <a:b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 : Quality / Evaluation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4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0051" y="2205038"/>
            <a:ext cx="1797050" cy="414720"/>
          </a:xfrm>
          <a:prstGeom prst="roundRect">
            <a:avLst>
              <a:gd name="adj" fmla="val 950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 Orchestrator Agent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5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0051" y="3446080"/>
            <a:ext cx="1797050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Architect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6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9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UI/UX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7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0291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8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7893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39" name="Rect 01">
            <a:extLst>
              <a:ext uri="{FF2B5EF4-FFF2-40B4-BE49-F238E27FC236}">
                <a16:creationId xmlns="" xmlns:a16="http://schemas.microsoft.com/office/drawing/2014/main" id="{1AEBB416-1673-484D-A3C7-8A74105C4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1696" y="4462080"/>
            <a:ext cx="1197204" cy="414720"/>
          </a:xfrm>
          <a:prstGeom prst="roundRect">
            <a:avLst>
              <a:gd name="adj" fmla="val 9504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none" anchor="ctr"/>
          <a:lstStyle/>
          <a:p>
            <a:pPr algn="ctr"/>
            <a:r>
              <a:rPr lang="en-US" sz="12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</a:t>
            </a:r>
            <a:endParaRPr lang="en-US" sz="12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cxnSp>
        <p:nvCxnSpPr>
          <p:cNvPr id="40" name="직선 연결선 39"/>
          <p:cNvCxnSpPr>
            <a:stCxn id="34" idx="2"/>
            <a:endCxn id="35" idx="0"/>
          </p:cNvCxnSpPr>
          <p:nvPr/>
        </p:nvCxnSpPr>
        <p:spPr>
          <a:xfrm>
            <a:off x="8918576" y="2619758"/>
            <a:ext cx="0" cy="8263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35" idx="2"/>
            <a:endCxn id="36" idx="0"/>
          </p:cNvCxnSpPr>
          <p:nvPr/>
        </p:nvCxnSpPr>
        <p:spPr>
          <a:xfrm rot="5400000">
            <a:off x="7589294" y="3132798"/>
            <a:ext cx="601280" cy="2057285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35" idx="2"/>
            <a:endCxn id="37" idx="0"/>
          </p:cNvCxnSpPr>
          <p:nvPr/>
        </p:nvCxnSpPr>
        <p:spPr>
          <a:xfrm rot="5400000">
            <a:off x="8253095" y="3796599"/>
            <a:ext cx="601280" cy="72968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35" idx="2"/>
            <a:endCxn id="38" idx="0"/>
          </p:cNvCxnSpPr>
          <p:nvPr/>
        </p:nvCxnSpPr>
        <p:spPr>
          <a:xfrm rot="16200000" flipH="1">
            <a:off x="8916895" y="3862480"/>
            <a:ext cx="601280" cy="5979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35" idx="2"/>
            <a:endCxn id="39" idx="0"/>
          </p:cNvCxnSpPr>
          <p:nvPr/>
        </p:nvCxnSpPr>
        <p:spPr>
          <a:xfrm rot="16200000" flipH="1">
            <a:off x="9618797" y="3160579"/>
            <a:ext cx="601280" cy="20017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6096000" y="5427643"/>
            <a:ext cx="53303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UIUX </a:t>
            </a: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: Conversation &amp; Persona Execution</a:t>
            </a:r>
            <a:b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Frontend Agent : UI Schema / Layout Generation ⭐</a:t>
            </a:r>
            <a:b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Backend Agent : Tool Execution / Integration</a:t>
            </a:r>
            <a:b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</a:br>
            <a:r>
              <a:rPr lang="en-US" altLang="ko-KR" sz="1400" dirty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Test Agent : Simulation / Evaluation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9013763" y="2888734"/>
            <a:ext cx="12939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Control Panel</a:t>
            </a:r>
            <a:endParaRPr lang="ko-KR" altLang="en-US" sz="1400" dirty="0">
              <a:latin typeface="Helvetica" panose="020B0604020202020204" pitchFamily="34" charset="0"/>
              <a:ea typeface="휴먼모음T" panose="02030504000101010101" pitchFamily="18" charset="-127"/>
              <a:cs typeface="Helvetica" panose="020B0604020202020204" pitchFamily="34" charset="0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096000" y="1213048"/>
            <a:ext cx="481413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latin typeface="Helvetica" panose="020B0604020202020204" pitchFamily="34" charset="0"/>
                <a:ea typeface="휴먼모음T" panose="02030504000101010101" pitchFamily="18" charset="-127"/>
                <a:cs typeface="Helvetica" panose="020B0604020202020204" pitchFamily="34" charset="0"/>
              </a:rPr>
              <a:t>AGENT ORGANIZATION LAYER (Execution / Automation)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23888" y="1520825"/>
            <a:ext cx="5345112" cy="486092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095999" y="1520825"/>
            <a:ext cx="5616575" cy="486092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78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6553</TotalTime>
  <Words>2317</Words>
  <Application>Microsoft Office PowerPoint</Application>
  <PresentationFormat>와이드스크린</PresentationFormat>
  <Paragraphs>1019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HY동녘M</vt:lpstr>
      <vt:lpstr>Open Sans</vt:lpstr>
      <vt:lpstr>Gulim</vt:lpstr>
      <vt:lpstr>맑은 고딕</vt:lpstr>
      <vt:lpstr>맑은 고딕</vt:lpstr>
      <vt:lpstr>휴먼모음T</vt:lpstr>
      <vt:lpstr>Arial</vt:lpstr>
      <vt:lpstr>Helvetica</vt:lpstr>
      <vt:lpstr>Times New Roman</vt:lpstr>
      <vt:lpstr>Wingdings</vt:lpstr>
      <vt:lpstr>Office 테마</vt:lpstr>
      <vt:lpstr>PowerPoint 프레젠테이션</vt:lpstr>
      <vt:lpstr>1. AI Agent 방법론 개요</vt:lpstr>
      <vt:lpstr>2. R&amp;R 및 산출물 &gt; 0.SaaS Foundation Design 단계</vt:lpstr>
      <vt:lpstr>2. R&amp;R 및 산출물 &gt; 1. Vision &amp; Role 정의 단계</vt:lpstr>
      <vt:lpstr>2. R&amp;R 및 산출물 &gt; 2. Agent Workflow 단계</vt:lpstr>
      <vt:lpstr>2. R&amp;R 및 산출물 &gt; 3.Capability 구축 </vt:lpstr>
      <vt:lpstr>2. R&amp;R 및 산출물 &gt; 4.Simulation Test</vt:lpstr>
      <vt:lpstr>2. R&amp;R 및 산출물 &gt; 5. Deploy &amp; Monitoring  </vt:lpstr>
      <vt:lpstr>2. R&amp;R 및 산출물 &gt; 5. Deploy &amp; Monitoring / 6. Evolution Loop  </vt:lpstr>
      <vt:lpstr>3. Human-AI RACI Matrix </vt:lpstr>
      <vt:lpstr>3. Human-AI RACI Matrix </vt:lpstr>
      <vt:lpstr>3. Human-AI RACI Matrix </vt:lpstr>
      <vt:lpstr>3. Human-AI RACI Matrix </vt:lpstr>
      <vt:lpstr>3. Human-AI RACI Matrix </vt:lpstr>
      <vt:lpstr>3. Human-AI RACI Matrix </vt:lpstr>
      <vt:lpstr>3. Human-AI RACI Matrix </vt:lpstr>
      <vt:lpstr>4. AI Agent Dual-Layer Organization Structure (Human + Agent)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75</cp:revision>
  <cp:lastPrinted>2026-03-10T06:13:49Z</cp:lastPrinted>
  <dcterms:created xsi:type="dcterms:W3CDTF">2026-02-22T04:14:41Z</dcterms:created>
  <dcterms:modified xsi:type="dcterms:W3CDTF">2026-03-11T05:35:46Z</dcterms:modified>
</cp:coreProperties>
</file>