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7" r:id="rId2"/>
    <p:sldId id="257" r:id="rId3"/>
    <p:sldId id="265" r:id="rId4"/>
    <p:sldId id="266" r:id="rId5"/>
    <p:sldId id="267" r:id="rId6"/>
    <p:sldId id="274" r:id="rId7"/>
    <p:sldId id="268" r:id="rId8"/>
    <p:sldId id="269" r:id="rId9"/>
    <p:sldId id="270" r:id="rId10"/>
    <p:sldId id="271" r:id="rId11"/>
    <p:sldId id="272" r:id="rId12"/>
    <p:sldId id="273" r:id="rId13"/>
    <p:sldId id="27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7378" userDrawn="1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1389" userDrawn="1">
          <p15:clr>
            <a:srgbClr val="A4A3A4"/>
          </p15:clr>
        </p15:guide>
        <p15:guide id="5" pos="1028" userDrawn="1">
          <p15:clr>
            <a:srgbClr val="A4A3A4"/>
          </p15:clr>
        </p15:guide>
        <p15:guide id="6" orient="horz" pos="3543" userDrawn="1">
          <p15:clr>
            <a:srgbClr val="A4A3A4"/>
          </p15:clr>
        </p15:guide>
        <p15:guide id="7" orient="horz" pos="3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227" autoAdjust="0"/>
    <p:restoredTop sz="86410"/>
  </p:normalViewPr>
  <p:slideViewPr>
    <p:cSldViewPr snapToGrid="0">
      <p:cViewPr varScale="1">
        <p:scale>
          <a:sx n="72" d="100"/>
          <a:sy n="72" d="100"/>
        </p:scale>
        <p:origin x="835" y="67"/>
      </p:cViewPr>
      <p:guideLst>
        <p:guide orient="horz" pos="3748"/>
        <p:guide pos="7378"/>
        <p:guide orient="horz" pos="1616"/>
        <p:guide orient="horz" pos="1389"/>
        <p:guide pos="1028"/>
        <p:guide orient="horz" pos="3543"/>
        <p:guide orient="horz" pos="323"/>
      </p:guideLst>
    </p:cSldViewPr>
  </p:slideViewPr>
  <p:outlineViewPr>
    <p:cViewPr>
      <p:scale>
        <a:sx n="33" d="100"/>
        <a:sy n="33" d="100"/>
      </p:scale>
      <p:origin x="0" y="-292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E2353-7306-46BC-B6DB-177DE301FB21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0D7574-5C8F-424D-810D-17B9E17299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16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lgun Gothic"/>
                <a:ea typeface="Malgun Gothic"/>
                <a:cs typeface="Malgun Gothic"/>
                <a:sym typeface="Malgun 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60869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18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98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49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54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09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49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256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77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399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455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7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제목 1, 2, 3 + 주제글" userDrawn="1">
  <p:cSld name="4_제목 1, 2, 3 + 주제글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4;p203"/>
          <p:cNvSpPr txBox="1">
            <a:spLocks noGrp="1"/>
          </p:cNvSpPr>
          <p:nvPr>
            <p:ph type="title"/>
          </p:nvPr>
        </p:nvSpPr>
        <p:spPr>
          <a:xfrm>
            <a:off x="623887" y="136080"/>
            <a:ext cx="7817379" cy="38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900" b="1" i="0" u="none" strike="noStrike" cap="none" baseline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  <a:sym typeface="Open Sans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171;p203"/>
          <p:cNvSpPr txBox="1">
            <a:spLocks noGrp="1"/>
          </p:cNvSpPr>
          <p:nvPr>
            <p:ph type="body" idx="1"/>
          </p:nvPr>
        </p:nvSpPr>
        <p:spPr>
          <a:xfrm>
            <a:off x="623888" y="855504"/>
            <a:ext cx="1134110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1" i="0" u="none" strike="noStrike" cap="none" baseline="0">
                <a:solidFill>
                  <a:schemeClr val="dk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  <a:sym typeface="Open Sans"/>
              </a:defRPr>
            </a:lvl1pPr>
            <a:lvl2pPr marL="914400" marR="0" lvl="1" indent="-3429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lim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xmlns="" id="{5B01F0BA-70BC-2435-27CB-D690316EE06A}"/>
              </a:ext>
            </a:extLst>
          </p:cNvPr>
          <p:cNvSpPr txBox="1">
            <a:spLocks/>
          </p:cNvSpPr>
          <p:nvPr userDrawn="1"/>
        </p:nvSpPr>
        <p:spPr>
          <a:xfrm>
            <a:off x="9520519" y="8966"/>
            <a:ext cx="2671482" cy="648259"/>
          </a:xfrm>
          <a:prstGeom prst="rect">
            <a:avLst/>
          </a:prstGeom>
          <a:noFill/>
        </p:spPr>
        <p:txBody>
          <a:bodyPr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9600" b="1">
                <a:solidFill>
                  <a:srgbClr val="000000"/>
                </a:solidFill>
                <a:latin typeface="Helvetica"/>
              </a:defRPr>
            </a:pPr>
            <a:r>
              <a:rPr lang="en-US" altLang="ko-K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AI  METHODOLOGY</a:t>
            </a:r>
          </a:p>
        </p:txBody>
      </p:sp>
      <p:sp>
        <p:nvSpPr>
          <p:cNvPr id="7" name="Rectangle 3"/>
          <p:cNvSpPr/>
          <p:nvPr userDrawn="1"/>
        </p:nvSpPr>
        <p:spPr>
          <a:xfrm>
            <a:off x="1" y="634290"/>
            <a:ext cx="12192000" cy="457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5036726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14" userDrawn="1">
          <p15:clr>
            <a:srgbClr val="FBAE40"/>
          </p15:clr>
        </p15:guide>
        <p15:guide id="6" orient="horz" pos="981" userDrawn="1">
          <p15:clr>
            <a:srgbClr val="FBAE40"/>
          </p15:clr>
        </p15:guide>
        <p15:guide id="7" orient="horz" pos="75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E34F5-B14D-4BD2-A13F-36505BAF9108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186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915" y="548640"/>
            <a:ext cx="20345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Helvetica"/>
              </a:defRPr>
            </a:pPr>
            <a:r>
              <a:rPr sz="1000" dirty="0"/>
              <a:t>AI SYSTEM DOCUMENTATION</a:t>
            </a:r>
          </a:p>
          <a:p>
            <a:pPr>
              <a:defRPr sz="1000">
                <a:solidFill>
                  <a:srgbClr val="787878"/>
                </a:solidFill>
                <a:latin typeface="Helvetica"/>
              </a:defRPr>
            </a:pPr>
            <a:r>
              <a:rPr sz="1000" dirty="0"/>
              <a:t>Version 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5914" y="2286000"/>
            <a:ext cx="9144000" cy="2743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9600" b="1">
                <a:solidFill>
                  <a:srgbClr val="000000"/>
                </a:solidFill>
                <a:latin typeface="Helvetica"/>
              </a:defRPr>
            </a:pPr>
            <a:r>
              <a:rPr sz="7200" dirty="0"/>
              <a:t>AI</a:t>
            </a:r>
          </a:p>
          <a:p>
            <a:pPr>
              <a:defRPr sz="9600" b="1">
                <a:solidFill>
                  <a:srgbClr val="000000"/>
                </a:solidFill>
                <a:latin typeface="Helvetica"/>
              </a:defRPr>
            </a:pPr>
            <a:r>
              <a:rPr sz="7200" dirty="0"/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5914" y="4754880"/>
            <a:ext cx="182880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5914" y="5029201"/>
            <a:ext cx="44337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  <a:latin typeface="Helvetica"/>
              </a:defRPr>
            </a:pPr>
            <a:r>
              <a:rPr sz="1400"/>
              <a:t>System Architecture · Agents · Protocol ·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914" y="6217920"/>
            <a:ext cx="110786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  <a:latin typeface="Helvetica"/>
              </a:defRPr>
            </a:pPr>
            <a:r>
              <a:rPr sz="1000"/>
              <a:t>Framework / Multi-Agent Structure / Operational Logic</a:t>
            </a:r>
          </a:p>
          <a:p>
            <a:pPr algn="r">
              <a:defRPr sz="1000">
                <a:solidFill>
                  <a:srgbClr val="787878"/>
                </a:solidFill>
                <a:latin typeface="Helvetica"/>
              </a:defRPr>
            </a:pPr>
            <a:r>
              <a:rPr sz="1000"/>
              <a:t>KY Song · Seoul · 2026</a:t>
            </a:r>
          </a:p>
        </p:txBody>
      </p:sp>
    </p:spTree>
    <p:extLst>
      <p:ext uri="{BB962C8B-B14F-4D97-AF65-F5344CB8AC3E}">
        <p14:creationId xmlns:p14="http://schemas.microsoft.com/office/powerpoint/2010/main" val="398862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528190" y="51019"/>
            <a:ext cx="7817379" cy="380104"/>
          </a:xfrm>
        </p:spPr>
        <p:txBody>
          <a:bodyPr/>
          <a:lstStyle/>
          <a:p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AI Agent </a:t>
            </a:r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방법론 개요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xmlns="" id="{6881F8B9-BAB4-4A2A-A23C-2D2B78E7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48846"/>
            <a:ext cx="12192000" cy="1015622"/>
          </a:xfrm>
          <a:prstGeom prst="rect">
            <a:avLst/>
          </a:prstGeom>
        </p:spPr>
        <p:txBody>
          <a:bodyPr/>
          <a:lstStyle/>
          <a:p>
            <a:pPr indent="0" algn="ctr"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ko-KR" altLang="en-US" sz="2000" dirty="0"/>
              <a:t>“</a:t>
            </a:r>
            <a:r>
              <a:rPr lang="en-US" altLang="ko-KR" sz="2000" dirty="0"/>
              <a:t>Agent </a:t>
            </a:r>
            <a:r>
              <a:rPr lang="ko-KR" altLang="en-US" sz="2000" dirty="0"/>
              <a:t>사고 방식 </a:t>
            </a:r>
            <a:r>
              <a:rPr lang="en-US" altLang="ko-KR" sz="2000" dirty="0"/>
              <a:t>+ </a:t>
            </a:r>
            <a:r>
              <a:rPr lang="ko-KR" altLang="en-US" sz="2000" dirty="0"/>
              <a:t>엔지니어링 방법론”을 </a:t>
            </a:r>
            <a:endParaRPr lang="en-US" altLang="ko-KR" sz="2000" dirty="0" smtClean="0"/>
          </a:p>
          <a:p>
            <a:pPr indent="0" algn="ctr"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ko-KR" altLang="en-US" sz="2000" dirty="0" smtClean="0"/>
              <a:t>합친 구조의 방법론을 정의 하였습니다</a:t>
            </a:r>
            <a:r>
              <a:rPr lang="en-US" altLang="ko-KR" sz="2000" dirty="0" smtClean="0"/>
              <a:t>. </a:t>
            </a:r>
            <a:endParaRPr lang="en-US" altLang="ko-KR" sz="2000" b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51" name="Freeform 4">
            <a:extLst>
              <a:ext uri="{FF2B5EF4-FFF2-40B4-BE49-F238E27FC236}">
                <a16:creationId xmlns:a16="http://schemas.microsoft.com/office/drawing/2014/main" xmlns="" id="{5EF7CB85-51CC-8344-AA07-03C4FBF6A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1926475"/>
            <a:ext cx="1008000" cy="962279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2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2" y="0"/>
                  <a:pt x="2206" y="494"/>
                  <a:pt x="2206" y="110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5400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1</a:t>
            </a:r>
            <a:endParaRPr lang="en-US" sz="5400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xmlns="" id="{51FC69C7-41A7-4548-8328-1043A40FA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069" y="1926475"/>
            <a:ext cx="1008000" cy="962279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2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2" y="0"/>
                  <a:pt x="2206" y="494"/>
                  <a:pt x="2206" y="1102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5400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2</a:t>
            </a:r>
            <a:endParaRPr lang="en-US" sz="5400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53" name="Freeform 6">
            <a:extLst>
              <a:ext uri="{FF2B5EF4-FFF2-40B4-BE49-F238E27FC236}">
                <a16:creationId xmlns:a16="http://schemas.microsoft.com/office/drawing/2014/main" xmlns="" id="{E50BB04D-D5F9-C144-8BFB-EC08026E8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252" y="1926475"/>
            <a:ext cx="1008000" cy="962279"/>
          </a:xfrm>
          <a:custGeom>
            <a:avLst/>
            <a:gdLst>
              <a:gd name="T0" fmla="*/ 2204 w 2205"/>
              <a:gd name="T1" fmla="*/ 1102 h 2206"/>
              <a:gd name="T2" fmla="*/ 2204 w 2205"/>
              <a:gd name="T3" fmla="*/ 1102 h 2206"/>
              <a:gd name="T4" fmla="*/ 1102 w 2205"/>
              <a:gd name="T5" fmla="*/ 2205 h 2206"/>
              <a:gd name="T6" fmla="*/ 1102 w 2205"/>
              <a:gd name="T7" fmla="*/ 2205 h 2206"/>
              <a:gd name="T8" fmla="*/ 0 w 2205"/>
              <a:gd name="T9" fmla="*/ 1102 h 2206"/>
              <a:gd name="T10" fmla="*/ 0 w 2205"/>
              <a:gd name="T11" fmla="*/ 1102 h 2206"/>
              <a:gd name="T12" fmla="*/ 1102 w 2205"/>
              <a:gd name="T13" fmla="*/ 0 h 2206"/>
              <a:gd name="T14" fmla="*/ 1102 w 2205"/>
              <a:gd name="T15" fmla="*/ 0 h 2206"/>
              <a:gd name="T16" fmla="*/ 2204 w 2205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5" h="2206">
                <a:moveTo>
                  <a:pt x="2204" y="1102"/>
                </a:moveTo>
                <a:lnTo>
                  <a:pt x="2204" y="1102"/>
                </a:lnTo>
                <a:cubicBezTo>
                  <a:pt x="2204" y="1711"/>
                  <a:pt x="1710" y="2205"/>
                  <a:pt x="1102" y="2205"/>
                </a:cubicBezTo>
                <a:lnTo>
                  <a:pt x="1102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2" y="0"/>
                </a:cubicBezTo>
                <a:lnTo>
                  <a:pt x="1102" y="0"/>
                </a:lnTo>
                <a:cubicBezTo>
                  <a:pt x="1710" y="0"/>
                  <a:pt x="2204" y="494"/>
                  <a:pt x="2204" y="1102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5400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3</a:t>
            </a:r>
            <a:endParaRPr lang="en-US" sz="5400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54" name="Freeform 7">
            <a:extLst>
              <a:ext uri="{FF2B5EF4-FFF2-40B4-BE49-F238E27FC236}">
                <a16:creationId xmlns:a16="http://schemas.microsoft.com/office/drawing/2014/main" xmlns="" id="{5286913F-7DCB-E445-8181-C5F94D26C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2435" y="1926475"/>
            <a:ext cx="1008000" cy="962279"/>
          </a:xfrm>
          <a:custGeom>
            <a:avLst/>
            <a:gdLst>
              <a:gd name="T0" fmla="*/ 2205 w 2206"/>
              <a:gd name="T1" fmla="*/ 1102 h 2206"/>
              <a:gd name="T2" fmla="*/ 2205 w 2206"/>
              <a:gd name="T3" fmla="*/ 1102 h 2206"/>
              <a:gd name="T4" fmla="*/ 1102 w 2206"/>
              <a:gd name="T5" fmla="*/ 2205 h 2206"/>
              <a:gd name="T6" fmla="*/ 1102 w 2206"/>
              <a:gd name="T7" fmla="*/ 2205 h 2206"/>
              <a:gd name="T8" fmla="*/ 0 w 2206"/>
              <a:gd name="T9" fmla="*/ 1102 h 2206"/>
              <a:gd name="T10" fmla="*/ 0 w 2206"/>
              <a:gd name="T11" fmla="*/ 1102 h 2206"/>
              <a:gd name="T12" fmla="*/ 1102 w 2206"/>
              <a:gd name="T13" fmla="*/ 0 h 2206"/>
              <a:gd name="T14" fmla="*/ 1102 w 2206"/>
              <a:gd name="T15" fmla="*/ 0 h 2206"/>
              <a:gd name="T16" fmla="*/ 2205 w 2206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6" h="2206">
                <a:moveTo>
                  <a:pt x="2205" y="1102"/>
                </a:moveTo>
                <a:lnTo>
                  <a:pt x="2205" y="1102"/>
                </a:lnTo>
                <a:cubicBezTo>
                  <a:pt x="2205" y="1711"/>
                  <a:pt x="1711" y="2205"/>
                  <a:pt x="1102" y="2205"/>
                </a:cubicBezTo>
                <a:lnTo>
                  <a:pt x="1102" y="2205"/>
                </a:lnTo>
                <a:cubicBezTo>
                  <a:pt x="493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3" y="0"/>
                  <a:pt x="1102" y="0"/>
                </a:cubicBezTo>
                <a:lnTo>
                  <a:pt x="1102" y="0"/>
                </a:lnTo>
                <a:cubicBezTo>
                  <a:pt x="1711" y="0"/>
                  <a:pt x="2205" y="494"/>
                  <a:pt x="2205" y="1102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5400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4</a:t>
            </a:r>
            <a:endParaRPr lang="en-US" sz="5400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55" name="Freeform 8">
            <a:extLst>
              <a:ext uri="{FF2B5EF4-FFF2-40B4-BE49-F238E27FC236}">
                <a16:creationId xmlns:a16="http://schemas.microsoft.com/office/drawing/2014/main" xmlns="" id="{7793049D-73EB-2D40-9816-FE9C6D6AC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618" y="1926475"/>
            <a:ext cx="1008000" cy="962279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1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1" y="0"/>
                  <a:pt x="2206" y="494"/>
                  <a:pt x="2206" y="1102"/>
                </a:cubicBezTo>
              </a:path>
            </a:pathLst>
          </a:cu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5400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5</a:t>
            </a:r>
            <a:endParaRPr lang="en-US" sz="5400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62" name="Freeform 8">
            <a:extLst>
              <a:ext uri="{FF2B5EF4-FFF2-40B4-BE49-F238E27FC236}">
                <a16:creationId xmlns:a16="http://schemas.microsoft.com/office/drawing/2014/main" xmlns="" id="{7793049D-73EB-2D40-9816-FE9C6D6AC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4802" y="1926475"/>
            <a:ext cx="1008000" cy="962279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1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1" y="0"/>
                  <a:pt x="2206" y="494"/>
                  <a:pt x="2206" y="1102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5400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6</a:t>
            </a:r>
            <a:endParaRPr lang="en-US" sz="5400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90533" y="2952254"/>
            <a:ext cx="1944000" cy="667246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>
                <a:lumMod val="85000"/>
              </a:schemeClr>
            </a:solidFill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1600" b="1" dirty="0" smtClean="0">
                <a:solidFill>
                  <a:srgbClr val="FFFF00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Vision &amp; Role </a:t>
            </a:r>
          </a:p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정의</a:t>
            </a:r>
            <a:endParaRPr lang="ko-KR" altLang="en-US" sz="1600" b="1" dirty="0">
              <a:solidFill>
                <a:srgbClr val="FFFF00"/>
              </a:solidFill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76642" y="2952254"/>
            <a:ext cx="1944000" cy="667246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>
                <a:lumMod val="85000"/>
              </a:schemeClr>
            </a:solidFill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1600" b="1" dirty="0" smtClean="0">
                <a:solidFill>
                  <a:srgbClr val="FFFF00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 Workflow </a:t>
            </a:r>
          </a:p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설계</a:t>
            </a:r>
            <a:endParaRPr lang="ko-KR" altLang="en-US" sz="1600" b="1" dirty="0">
              <a:solidFill>
                <a:srgbClr val="FFFF00"/>
              </a:solidFill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162751" y="2952254"/>
            <a:ext cx="1944000" cy="667246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>
                <a:lumMod val="85000"/>
              </a:schemeClr>
            </a:solidFill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1600" b="1" dirty="0" smtClean="0">
                <a:solidFill>
                  <a:srgbClr val="FFFF00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Capability </a:t>
            </a:r>
          </a:p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구축</a:t>
            </a:r>
            <a:endParaRPr lang="ko-KR" altLang="en-US" sz="1600" b="1" dirty="0">
              <a:solidFill>
                <a:srgbClr val="FFFF00"/>
              </a:solidFill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148860" y="2952254"/>
            <a:ext cx="1944000" cy="667246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>
                <a:lumMod val="85000"/>
              </a:schemeClr>
            </a:solidFill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1600" b="1" dirty="0" smtClean="0">
                <a:solidFill>
                  <a:srgbClr val="FFFF00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Simulation </a:t>
            </a:r>
          </a:p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테스트</a:t>
            </a:r>
            <a:endParaRPr lang="ko-KR" altLang="en-US" sz="1600" b="1" dirty="0">
              <a:solidFill>
                <a:srgbClr val="FFFF00"/>
              </a:solidFill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134969" y="2952254"/>
            <a:ext cx="1944000" cy="667246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>
                <a:lumMod val="85000"/>
              </a:schemeClr>
            </a:solidFill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1600" b="1" dirty="0" smtClean="0">
                <a:solidFill>
                  <a:srgbClr val="FFFF00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Deploy &amp; </a:t>
            </a:r>
          </a:p>
          <a:p>
            <a:pPr algn="ctr"/>
            <a:r>
              <a:rPr lang="en-US" altLang="ko-KR" sz="1600" b="1" dirty="0" smtClean="0">
                <a:solidFill>
                  <a:srgbClr val="FFFF00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Monitoring</a:t>
            </a:r>
            <a:endParaRPr lang="ko-KR" altLang="en-US" sz="1600" b="1" dirty="0">
              <a:solidFill>
                <a:srgbClr val="FFFF00"/>
              </a:solidFill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0121079" y="2952254"/>
            <a:ext cx="1944000" cy="667246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>
                <a:lumMod val="85000"/>
              </a:schemeClr>
            </a:solidFill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1600" b="1" dirty="0" smtClean="0">
                <a:solidFill>
                  <a:srgbClr val="FFFF00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Evolution </a:t>
            </a:r>
          </a:p>
          <a:p>
            <a:pPr algn="ctr"/>
            <a:r>
              <a:rPr lang="en-US" altLang="ko-KR" sz="1600" b="1" dirty="0" smtClean="0">
                <a:solidFill>
                  <a:srgbClr val="FFFF00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Loop</a:t>
            </a:r>
            <a:endParaRPr lang="ko-KR" altLang="en-US" sz="1600" b="1" dirty="0">
              <a:solidFill>
                <a:srgbClr val="FFFF00"/>
              </a:solidFill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90533" y="3619500"/>
            <a:ext cx="1943999" cy="14682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txBody>
          <a:bodyPr wrap="square" anchor="t">
            <a:no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AI Agent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가 왜 존재하는지</a:t>
            </a: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, 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그리고 각 </a:t>
            </a: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가 어떤 책임</a:t>
            </a: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(R&amp;R)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을 가지는지 결정하는 단계입니다</a:t>
            </a: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.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190533" y="5151216"/>
            <a:ext cx="1944000" cy="1376584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txBody>
          <a:bodyPr wrap="none" anchor="t">
            <a:noAutofit/>
          </a:bodyPr>
          <a:lstStyle/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Problem 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정의</a:t>
            </a:r>
            <a:endParaRPr lang="en-US" altLang="ko-KR" sz="1400" dirty="0" smtClean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 Role 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설계</a:t>
            </a:r>
            <a:endParaRPr lang="en-US" altLang="ko-KR" sz="1400" dirty="0" smtClean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Human-in-the-loop </a:t>
            </a:r>
          </a:p>
          <a:p>
            <a:pPr marL="177800" indent="-177800"/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  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정의</a:t>
            </a:r>
            <a:endParaRPr lang="ko-KR" altLang="en-US" sz="1400" b="1" dirty="0">
              <a:solidFill>
                <a:srgbClr val="FFFF00"/>
              </a:solidFill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162751" y="5151216"/>
            <a:ext cx="1944000" cy="1376584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txBody>
          <a:bodyPr wrap="none" anchor="t">
            <a:noAutofit/>
          </a:bodyPr>
          <a:lstStyle/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Prompt 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설계</a:t>
            </a:r>
            <a:endParaRPr lang="en-US" altLang="ko-KR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Tool 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연결</a:t>
            </a:r>
            <a:endParaRPr lang="en-US" altLang="ko-KR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Memory 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설계</a:t>
            </a:r>
            <a:endParaRPr lang="en-US" altLang="ko-KR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Skill 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정의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2176642" y="5151216"/>
            <a:ext cx="1944000" cy="1376584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txBody>
          <a:bodyPr wrap="none" anchor="t">
            <a:noAutofit/>
          </a:bodyPr>
          <a:lstStyle/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Workflow 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구조 작성</a:t>
            </a:r>
            <a:endParaRPr lang="en-US" altLang="ko-KR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Decision Rule 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정의</a:t>
            </a:r>
            <a:endParaRPr lang="en-US" altLang="ko-KR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Tool Flow 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설계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6148860" y="5151216"/>
            <a:ext cx="1944000" cy="1376584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txBody>
          <a:bodyPr wrap="none" anchor="t">
            <a:noAutofit/>
          </a:bodyPr>
          <a:lstStyle/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 </a:t>
            </a: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Conversation</a:t>
            </a:r>
          </a:p>
          <a:p>
            <a:pPr marL="177800" indent="-177800"/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 </a:t>
            </a: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 Simulation</a:t>
            </a:r>
            <a:endParaRPr lang="en-US" altLang="ko-KR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Failure Scenario </a:t>
            </a:r>
            <a:endParaRPr lang="en-US" altLang="ko-KR" sz="1400" dirty="0" smtClean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pPr marL="177800" indent="-177800"/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 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 테스트</a:t>
            </a:r>
            <a:endParaRPr lang="en-US" altLang="ko-KR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Evaluation 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기준 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설정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8134969" y="5151216"/>
            <a:ext cx="1944000" cy="1376584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txBody>
          <a:bodyPr wrap="none" anchor="t">
            <a:noAutofit/>
          </a:bodyPr>
          <a:lstStyle/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Logging</a:t>
            </a:r>
          </a:p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 err="1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Observability</a:t>
            </a:r>
            <a:endParaRPr lang="en-US" altLang="ko-KR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Guardrail 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설정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10121079" y="5151216"/>
            <a:ext cx="1944000" cy="1376584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txBody>
          <a:bodyPr wrap="none" anchor="t">
            <a:noAutofit/>
          </a:bodyPr>
          <a:lstStyle/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Log 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분석</a:t>
            </a:r>
            <a:endParaRPr lang="en-US" altLang="ko-KR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Prompt 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개선</a:t>
            </a:r>
            <a:endParaRPr lang="en-US" altLang="ko-KR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pPr marL="177800" indent="-17780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Skill 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업데이트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2176642" y="3619500"/>
            <a:ext cx="1943999" cy="14682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txBody>
          <a:bodyPr wrap="square" anchor="t">
            <a:no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들이 어떤 순서와 규칙으로 협업하는지 설계하는 단계</a:t>
            </a: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.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4162751" y="3619500"/>
            <a:ext cx="1943999" cy="14682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txBody>
          <a:bodyPr wrap="square" anchor="t">
            <a:no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가 실제로 일할 수 있게 만드는 단계</a:t>
            </a: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. (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기술구현 단계</a:t>
            </a: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)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6148860" y="3619500"/>
            <a:ext cx="1943999" cy="14682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txBody>
          <a:bodyPr wrap="square" anchor="t">
            <a:no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끼리 대화하면서 시스템을 검증하는 단계</a:t>
            </a: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.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8134969" y="3619500"/>
            <a:ext cx="1943999" cy="14682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txBody>
          <a:bodyPr wrap="square" anchor="t">
            <a:noAutofit/>
          </a:bodyPr>
          <a:lstStyle/>
          <a:p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를 실제 환경에서 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실행하고 행동을 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관찰하는 단계</a:t>
            </a: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.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10121080" y="3619500"/>
            <a:ext cx="1943999" cy="14682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txBody>
          <a:bodyPr wrap="square" anchor="t">
            <a:noAutofit/>
          </a:bodyPr>
          <a:lstStyle/>
          <a:p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가 실제로 실행된 이후의 로그와 결과를 </a:t>
            </a:r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분석해서 </a:t>
            </a: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Prompt </a:t>
            </a: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/ Workflow / Tool / Memory</a:t>
            </a:r>
            <a:r>
              <a:rPr lang="ko-KR" altLang="en-US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를 개선하는 반복 운영 프로세스 단계</a:t>
            </a:r>
          </a:p>
        </p:txBody>
      </p:sp>
    </p:spTree>
    <p:extLst>
      <p:ext uri="{BB962C8B-B14F-4D97-AF65-F5344CB8AC3E}">
        <p14:creationId xmlns:p14="http://schemas.microsoft.com/office/powerpoint/2010/main" val="167952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623887" y="136080"/>
            <a:ext cx="8596313" cy="37192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600"/>
              </a:spcBef>
              <a:buSzPts val="1400"/>
            </a:pPr>
            <a:r>
              <a:rPr lang="en-US" altLang="ko-KR" sz="1900" b="1" dirty="0">
                <a:sym typeface="Open Sans"/>
              </a:rPr>
              <a:t>2. R&amp;R </a:t>
            </a:r>
            <a:r>
              <a:rPr lang="ko-KR" altLang="en-US" sz="1900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 smtClean="0"/>
              <a:t>1. Vision &amp; Role </a:t>
            </a:r>
            <a:r>
              <a:rPr lang="ko-KR" altLang="en-US" dirty="0" smtClean="0"/>
              <a:t>정의 단계 </a:t>
            </a:r>
            <a:r>
              <a:rPr lang="en-US" altLang="ko-KR" dirty="0" smtClean="0"/>
              <a:t>/ 2. Agent Workflow </a:t>
            </a:r>
            <a:r>
              <a:rPr lang="ko-KR" altLang="en-US" dirty="0" smtClean="0"/>
              <a:t>단계</a:t>
            </a:r>
            <a:endParaRPr lang="ko-KR" altLang="en-US" sz="1900" b="1" dirty="0">
              <a:sym typeface="Open Sans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xmlns="" id="{8FF3E8BA-552F-4C3D-9453-4164F9077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285750" algn="r">
              <a:lnSpc>
                <a:spcPct val="13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+mj-lt"/>
              <a:buAutoNum type="romanUcPeriod" startAt="2"/>
            </a:pPr>
            <a:r>
              <a:rPr lang="ko-KR" altLang="en-US" sz="1100" b="1" dirty="0">
                <a:solidFill>
                  <a:schemeClr val="bg1"/>
                </a:solidFill>
                <a:sym typeface="Open Sans"/>
              </a:rPr>
              <a:t>추진방법 및 산출물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377302"/>
              </p:ext>
            </p:extLst>
          </p:nvPr>
        </p:nvGraphicFramePr>
        <p:xfrm>
          <a:off x="623889" y="855504"/>
          <a:ext cx="11393358" cy="5526243"/>
        </p:xfrm>
        <a:graphic>
          <a:graphicData uri="http://schemas.openxmlformats.org/drawingml/2006/table">
            <a:tbl>
              <a:tblPr/>
              <a:tblGrid>
                <a:gridCol w="1693939">
                  <a:extLst>
                    <a:ext uri="{9D8B030D-6E8A-4147-A177-3AD203B41FA5}">
                      <a16:colId xmlns:a16="http://schemas.microsoft.com/office/drawing/2014/main" xmlns="" val="173352676"/>
                    </a:ext>
                  </a:extLst>
                </a:gridCol>
                <a:gridCol w="2294734">
                  <a:extLst>
                    <a:ext uri="{9D8B030D-6E8A-4147-A177-3AD203B41FA5}">
                      <a16:colId xmlns:a16="http://schemas.microsoft.com/office/drawing/2014/main" xmlns="" val="1698800095"/>
                    </a:ext>
                  </a:extLst>
                </a:gridCol>
                <a:gridCol w="2294734">
                  <a:extLst>
                    <a:ext uri="{9D8B030D-6E8A-4147-A177-3AD203B41FA5}">
                      <a16:colId xmlns:a16="http://schemas.microsoft.com/office/drawing/2014/main" xmlns="" val="3339535385"/>
                    </a:ext>
                  </a:extLst>
                </a:gridCol>
                <a:gridCol w="5059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18089">
                  <a:extLst>
                    <a:ext uri="{9D8B030D-6E8A-4147-A177-3AD203B41FA5}">
                      <a16:colId xmlns:a16="http://schemas.microsoft.com/office/drawing/2014/main" xmlns="" val="653261259"/>
                    </a:ext>
                  </a:extLst>
                </a:gridCol>
                <a:gridCol w="228595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33333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400" b="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398306"/>
                  </a:ext>
                </a:extLst>
              </a:tr>
              <a:tr h="33333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2000" b="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WBS Task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marL="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27858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55716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83575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114336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139292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1671504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195008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222867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4817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i="0" u="none" strike="noStrike" kern="1200" cap="none" baseline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1</a:t>
                      </a: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.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Vision &amp; Role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 단계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77496958"/>
                  </a:ext>
                </a:extLst>
              </a:tr>
              <a:tr h="34400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cap="none" baseline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1</a:t>
                      </a: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.1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Problem Framing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비즈니스 목표 정의</a:t>
                      </a:r>
                    </a:p>
                    <a:p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해결할 문제 승인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요구사항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Draft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</a:p>
                    <a:p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시장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사례 분석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Problem Statement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작성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1.1.1</a:t>
                      </a:r>
                      <a:r>
                        <a:rPr lang="en-US" altLang="ko-KR" sz="1100" baseline="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Problem Definition Doc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40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Stakeholder Goal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정리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4400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 Persona Definition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핵심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Persona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선택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Persona Behavior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분석</a:t>
                      </a:r>
                      <a:endParaRPr lang="en-US" altLang="ko-KR" sz="11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Scenario Draft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User Scenario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작성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1.2.1 Persona Spec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1.2.2 Usage Scenario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00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Context Requirement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00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 Agent Role Mapping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역할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Scope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승인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Responsibility Draft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Matrix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작성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1.3.1 Agent R&amp;R Matrix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00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Authority Boundary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67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2.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 Workflow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3025331"/>
                  </a:ext>
                </a:extLst>
              </a:tr>
              <a:tr h="34400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2.1 Interaction Flow Draft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Workflow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방향 결정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Flow Diagram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Conversation Sequence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2.1.1 Workflow Diagram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440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Turn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구조 정의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4400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2.2 Decision Gate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승인 단계 정의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Gate Logic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제안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2.2.1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Approval Rule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작성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2.2.1 Decision Rule Spec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00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2.2.2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Escalation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00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2.3 Tool Invocation Flow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권한 승인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Flow Draft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2.3.1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Usage Mapping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2.3.1 Tool Flow Spec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00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2.3.2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Error Handling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56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600"/>
              </a:spcBef>
              <a:buSzPts val="1400"/>
            </a:pPr>
            <a:r>
              <a:rPr lang="en-US" altLang="ko-KR" sz="1900" b="1" dirty="0">
                <a:sym typeface="Open Sans"/>
              </a:rPr>
              <a:t>2. R&amp;R </a:t>
            </a:r>
            <a:r>
              <a:rPr lang="ko-KR" altLang="en-US" sz="1900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 smtClean="0"/>
              <a:t>3.Capability </a:t>
            </a:r>
            <a:r>
              <a:rPr lang="ko-KR" altLang="en-US" dirty="0" smtClean="0"/>
              <a:t>구축 </a:t>
            </a:r>
            <a:r>
              <a:rPr lang="en-US" altLang="ko-KR" dirty="0" smtClean="0"/>
              <a:t>/ 4.Simulation Test</a:t>
            </a:r>
            <a:endParaRPr lang="ko-KR" altLang="en-US" sz="1900" b="1" dirty="0">
              <a:sym typeface="Open San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699672"/>
              </p:ext>
            </p:extLst>
          </p:nvPr>
        </p:nvGraphicFramePr>
        <p:xfrm>
          <a:off x="623888" y="855504"/>
          <a:ext cx="11393358" cy="5551337"/>
        </p:xfrm>
        <a:graphic>
          <a:graphicData uri="http://schemas.openxmlformats.org/drawingml/2006/table">
            <a:tbl>
              <a:tblPr/>
              <a:tblGrid>
                <a:gridCol w="1693939">
                  <a:extLst>
                    <a:ext uri="{9D8B030D-6E8A-4147-A177-3AD203B41FA5}">
                      <a16:colId xmlns:a16="http://schemas.microsoft.com/office/drawing/2014/main" xmlns="" val="173352676"/>
                    </a:ext>
                  </a:extLst>
                </a:gridCol>
                <a:gridCol w="2294734">
                  <a:extLst>
                    <a:ext uri="{9D8B030D-6E8A-4147-A177-3AD203B41FA5}">
                      <a16:colId xmlns:a16="http://schemas.microsoft.com/office/drawing/2014/main" xmlns="" val="1698800095"/>
                    </a:ext>
                  </a:extLst>
                </a:gridCol>
                <a:gridCol w="2294734">
                  <a:extLst>
                    <a:ext uri="{9D8B030D-6E8A-4147-A177-3AD203B41FA5}">
                      <a16:colId xmlns:a16="http://schemas.microsoft.com/office/drawing/2014/main" xmlns="" val="3339535385"/>
                    </a:ext>
                  </a:extLst>
                </a:gridCol>
                <a:gridCol w="5059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18089">
                  <a:extLst>
                    <a:ext uri="{9D8B030D-6E8A-4147-A177-3AD203B41FA5}">
                      <a16:colId xmlns:a16="http://schemas.microsoft.com/office/drawing/2014/main" xmlns="" val="653261259"/>
                    </a:ext>
                  </a:extLst>
                </a:gridCol>
                <a:gridCol w="228595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38821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400" b="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398306"/>
                  </a:ext>
                </a:extLst>
              </a:tr>
              <a:tr h="27970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1400" b="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WBS Task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marL="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27858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55716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83575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114336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139292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1671504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195008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222867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6647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i="0" u="none" strike="noStrike" kern="1200" cap="none" baseline="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3</a:t>
                      </a: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.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Capability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구축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77496958"/>
                  </a:ext>
                </a:extLst>
              </a:tr>
              <a:tr h="400641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3.1 System Prompt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Tone &amp; Policy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결정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Draft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작성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Instruction Layer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3.1.1 System Prompt Spec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06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Guardrail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포함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0641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3.2 Skill &amp; Tool Integration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API Scope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승인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Skill Code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3.2.1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Interface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작성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3.2.1 Skill Library</a:t>
                      </a:r>
                    </a:p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3.2.2</a:t>
                      </a:r>
                      <a:r>
                        <a:rPr lang="en-US" altLang="ko-KR" sz="1100" baseline="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r>
                        <a:rPr lang="en-US" altLang="ko-KR" sz="1100" dirty="0" err="1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Config</a:t>
                      </a:r>
                      <a:endParaRPr lang="en-US" altLang="ko-KR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64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3.2.2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Permission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설정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641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3.3 Memory Architecture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개인정보 정책 결정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Memory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구조 제안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3.3.1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Context Storage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3.3.1 Memory Spec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64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3.3.2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Retrieval Rule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267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4.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Simulation Test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3025331"/>
                  </a:ext>
                </a:extLst>
              </a:tr>
              <a:tr h="400641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4.1 Agent Role-play Simulation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 Scenario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승인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Simulation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실행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4.1.1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Multi-Agent Test Run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4.1.1 Simulation Log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06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4.1.2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Conversation Log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00641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4.2 Failure Scenario Test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Failure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기준 정의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Error Pattern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분석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4.2.1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Loop Failure Test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4.2.1 Issue List</a:t>
                      </a:r>
                      <a:endParaRPr lang="en-US" altLang="ko-KR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64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4.2.2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Conflict Test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05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ko-KR" b="1" dirty="0">
                <a:sym typeface="Open Sans"/>
              </a:rPr>
              <a:t>2. R&amp;R </a:t>
            </a:r>
            <a:r>
              <a:rPr lang="ko-KR" altLang="en-US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>
                <a:sym typeface="Arial"/>
              </a:rPr>
              <a:t>5. </a:t>
            </a:r>
            <a:r>
              <a:rPr lang="en-US" altLang="ko-KR" dirty="0"/>
              <a:t>Deploy &amp; Monitoring </a:t>
            </a:r>
            <a:r>
              <a:rPr lang="en-US" altLang="ko-KR" dirty="0" smtClean="0"/>
              <a:t>/ </a:t>
            </a:r>
            <a:r>
              <a:rPr lang="en-US" altLang="ko-KR" dirty="0">
                <a:sym typeface="Arial"/>
              </a:rPr>
              <a:t>6. </a:t>
            </a:r>
            <a:r>
              <a:rPr lang="en-US" altLang="ko-KR" dirty="0"/>
              <a:t>Evolution Loop</a:t>
            </a:r>
            <a:r>
              <a:rPr lang="ko-KR" altLang="en-US" dirty="0">
                <a:sym typeface="Arial"/>
              </a:rPr>
              <a:t/>
            </a:r>
            <a:br>
              <a:rPr lang="ko-KR" altLang="en-US" dirty="0">
                <a:sym typeface="Arial"/>
              </a:rPr>
            </a:br>
            <a:r>
              <a:rPr lang="en-US" altLang="ko-KR" dirty="0" smtClean="0"/>
              <a:t> </a:t>
            </a:r>
            <a:endParaRPr lang="ko-KR" altLang="en-US" dirty="0">
              <a:sym typeface="Arial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xmlns="" id="{8FF3E8BA-552F-4C3D-9453-4164F9077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285750" algn="r">
              <a:lnSpc>
                <a:spcPct val="13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+mj-lt"/>
              <a:buAutoNum type="romanUcPeriod" startAt="2"/>
            </a:pPr>
            <a:r>
              <a:rPr lang="ko-KR" altLang="en-US" sz="1100" b="1" dirty="0">
                <a:solidFill>
                  <a:schemeClr val="bg1"/>
                </a:solidFill>
                <a:sym typeface="Open Sans"/>
              </a:rPr>
              <a:t>추진방법 및 산출물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989533"/>
              </p:ext>
            </p:extLst>
          </p:nvPr>
        </p:nvGraphicFramePr>
        <p:xfrm>
          <a:off x="623886" y="855504"/>
          <a:ext cx="11376026" cy="5526250"/>
        </p:xfrm>
        <a:graphic>
          <a:graphicData uri="http://schemas.openxmlformats.org/drawingml/2006/table">
            <a:tbl>
              <a:tblPr/>
              <a:tblGrid>
                <a:gridCol w="1691361">
                  <a:extLst>
                    <a:ext uri="{9D8B030D-6E8A-4147-A177-3AD203B41FA5}">
                      <a16:colId xmlns:a16="http://schemas.microsoft.com/office/drawing/2014/main" xmlns="" val="173352676"/>
                    </a:ext>
                  </a:extLst>
                </a:gridCol>
                <a:gridCol w="2291243">
                  <a:extLst>
                    <a:ext uri="{9D8B030D-6E8A-4147-A177-3AD203B41FA5}">
                      <a16:colId xmlns:a16="http://schemas.microsoft.com/office/drawing/2014/main" xmlns="" val="1698800095"/>
                    </a:ext>
                  </a:extLst>
                </a:gridCol>
                <a:gridCol w="2291243">
                  <a:extLst>
                    <a:ext uri="{9D8B030D-6E8A-4147-A177-3AD203B41FA5}">
                      <a16:colId xmlns:a16="http://schemas.microsoft.com/office/drawing/2014/main" xmlns="" val="3339535385"/>
                    </a:ext>
                  </a:extLst>
                </a:gridCol>
                <a:gridCol w="5051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14563">
                  <a:extLst>
                    <a:ext uri="{9D8B030D-6E8A-4147-A177-3AD203B41FA5}">
                      <a16:colId xmlns:a16="http://schemas.microsoft.com/office/drawing/2014/main" xmlns="" val="653261259"/>
                    </a:ext>
                  </a:extLst>
                </a:gridCol>
                <a:gridCol w="228248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38897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200" b="1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398306"/>
                  </a:ext>
                </a:extLst>
              </a:tr>
              <a:tr h="38897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WBS Task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marL="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27858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55716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83575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114336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139292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1671504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195008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222867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7361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5.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Deploy &amp; Monitoring 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77496958"/>
                  </a:ext>
                </a:extLst>
              </a:tr>
              <a:tr h="40142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 Logging Setup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 Policy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승인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Logging </a:t>
                      </a:r>
                      <a:r>
                        <a:rPr lang="en-US" altLang="ko-KR" sz="1100" dirty="0" err="1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Config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Message Trace </a:t>
                      </a:r>
                      <a:r>
                        <a:rPr lang="ko-KR" altLang="en-US" sz="110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저장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5.1.1 Logging </a:t>
                      </a:r>
                      <a:r>
                        <a:rPr lang="en-US" altLang="ko-KR" sz="1100" dirty="0" err="1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Config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14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Log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기록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142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 </a:t>
                      </a:r>
                      <a:r>
                        <a:rPr lang="en-US" altLang="ko-KR" sz="1100" dirty="0" err="1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Observability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구축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KPI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선택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Metric Report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Monitoring Dashboard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구성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5.2.1 Monitoring Dashboard</a:t>
                      </a:r>
                      <a:endParaRPr lang="en-US" altLang="ko-KR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42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Alert Rule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설정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6213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6.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Evolution Loop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3025331"/>
                  </a:ext>
                </a:extLst>
              </a:tr>
              <a:tr h="40142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6.1 Trajectory Log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수집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분석 대상 선정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 Aggregation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Execution Data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수집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6.1.1 Trajectory Dataset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14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Failure Tagging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0142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6.2 Behavior Evaluation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개선 우선순위 결정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Evaluation Report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6.2.1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Behavior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분석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6.2.1 Evaluation Report</a:t>
                      </a:r>
                      <a:endParaRPr lang="en-US" altLang="ko-KR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42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6.2.2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Usage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평가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335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6.3 Prompt &amp; Workflow Adjustment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변경 승인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Patch Draft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작성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6.3.1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수정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6.3.1 Updated Prompt</a:t>
                      </a:r>
                    </a:p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6.3.2 Patch Note</a:t>
                      </a:r>
                    </a:p>
                    <a:p>
                      <a:endParaRPr lang="en-US" altLang="ko-KR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72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855504"/>
            <a:ext cx="5472112" cy="3323946"/>
          </a:xfrm>
        </p:spPr>
        <p:txBody>
          <a:bodyPr/>
          <a:lstStyle/>
          <a:p>
            <a:r>
              <a:rPr lang="en-US" altLang="ko-KR" sz="1400" b="0" dirty="0"/>
              <a:t># RACI Definition</a:t>
            </a:r>
          </a:p>
          <a:p>
            <a:r>
              <a:rPr lang="en-US" altLang="ko-KR" sz="1400" b="0" dirty="0"/>
              <a:t>R = Responsible (</a:t>
            </a:r>
            <a:r>
              <a:rPr lang="ko-KR" altLang="en-US" sz="1400" b="0" dirty="0"/>
              <a:t>실행 주체</a:t>
            </a:r>
            <a:r>
              <a:rPr lang="en-US" altLang="ko-KR" sz="1400" b="0" dirty="0"/>
              <a:t>)</a:t>
            </a:r>
          </a:p>
          <a:p>
            <a:r>
              <a:rPr lang="en-US" altLang="ko-KR" sz="1400" b="0" dirty="0"/>
              <a:t>A = Accountable (</a:t>
            </a:r>
            <a:r>
              <a:rPr lang="ko-KR" altLang="en-US" sz="1400" b="0" dirty="0"/>
              <a:t>최종 책임</a:t>
            </a:r>
            <a:r>
              <a:rPr lang="en-US" altLang="ko-KR" sz="1400" b="0" dirty="0"/>
              <a:t>/</a:t>
            </a:r>
            <a:r>
              <a:rPr lang="ko-KR" altLang="en-US" sz="1400" b="0" dirty="0"/>
              <a:t>승인</a:t>
            </a:r>
            <a:r>
              <a:rPr lang="en-US" altLang="ko-KR" sz="1400" b="0" dirty="0"/>
              <a:t>)</a:t>
            </a:r>
          </a:p>
          <a:p>
            <a:r>
              <a:rPr lang="en-US" altLang="ko-KR" sz="1400" b="0" dirty="0"/>
              <a:t>C = Consulted (</a:t>
            </a:r>
            <a:r>
              <a:rPr lang="ko-KR" altLang="en-US" sz="1400" b="0" dirty="0"/>
              <a:t>협의</a:t>
            </a:r>
            <a:r>
              <a:rPr lang="en-US" altLang="ko-KR" sz="1400" b="0" dirty="0"/>
              <a:t>)</a:t>
            </a:r>
          </a:p>
          <a:p>
            <a:r>
              <a:rPr lang="en-US" altLang="ko-KR" sz="1400" b="0" dirty="0"/>
              <a:t>I = Informed (</a:t>
            </a:r>
            <a:r>
              <a:rPr lang="ko-KR" altLang="en-US" sz="1400" b="0" dirty="0"/>
              <a:t>공유</a:t>
            </a:r>
            <a:r>
              <a:rPr lang="en-US" altLang="ko-KR" sz="1400" b="0" dirty="0"/>
              <a:t>)</a:t>
            </a:r>
          </a:p>
          <a:p>
            <a:endParaRPr lang="en-US" altLang="ko-KR" sz="1400" b="0" dirty="0"/>
          </a:p>
          <a:p>
            <a:r>
              <a:rPr lang="ko-KR" altLang="en-US" sz="1400" b="0" dirty="0"/>
              <a:t>Human Roles:</a:t>
            </a:r>
          </a:p>
          <a:p>
            <a:r>
              <a:rPr lang="ko-KR" altLang="en-US" sz="1400" b="0" dirty="0"/>
              <a:t>PM / Architect / UIUX / Frontend / Backend / Test</a:t>
            </a:r>
          </a:p>
          <a:p>
            <a:endParaRPr lang="ko-KR" altLang="en-US" sz="1400" b="0" dirty="0"/>
          </a:p>
          <a:p>
            <a:r>
              <a:rPr lang="ko-KR" altLang="en-US" sz="1400" b="0" dirty="0"/>
              <a:t>Agent Roles:</a:t>
            </a:r>
          </a:p>
          <a:p>
            <a:r>
              <a:rPr lang="ko-KR" altLang="en-US" sz="1400" b="0" dirty="0"/>
              <a:t>⭐ Orchestrator Agent</a:t>
            </a:r>
          </a:p>
          <a:p>
            <a:r>
              <a:rPr lang="ko-KR" altLang="en-US" sz="1400" b="0" dirty="0"/>
              <a:t>UIUX Agent</a:t>
            </a:r>
          </a:p>
          <a:p>
            <a:r>
              <a:rPr lang="ko-KR" altLang="en-US" sz="1400" b="0" dirty="0"/>
              <a:t>Frontend Agent</a:t>
            </a:r>
          </a:p>
          <a:p>
            <a:r>
              <a:rPr lang="ko-KR" altLang="en-US" sz="1400" b="0" dirty="0"/>
              <a:t>Backend Agent</a:t>
            </a:r>
          </a:p>
          <a:p>
            <a:r>
              <a:rPr lang="ko-KR" altLang="en-US" sz="1400" b="0" dirty="0"/>
              <a:t>Test Agent</a:t>
            </a:r>
          </a:p>
        </p:txBody>
      </p:sp>
      <p:sp>
        <p:nvSpPr>
          <p:cNvPr id="4" name="제목 8"/>
          <p:cNvSpPr>
            <a:spLocks noGrp="1"/>
          </p:cNvSpPr>
          <p:nvPr>
            <p:ph type="title"/>
          </p:nvPr>
        </p:nvSpPr>
        <p:spPr>
          <a:xfrm>
            <a:off x="636587" y="80804"/>
            <a:ext cx="7817379" cy="380104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896522"/>
              </p:ext>
            </p:extLst>
          </p:nvPr>
        </p:nvGraphicFramePr>
        <p:xfrm>
          <a:off x="623886" y="4495800"/>
          <a:ext cx="11034714" cy="1885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814"/>
                <a:gridCol w="5549900"/>
              </a:tblGrid>
              <a:tr h="36837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 Layer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 Layer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5175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 →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방향</a:t>
                      </a: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책임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 →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 오너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 →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품질 오너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 Agent → Persona/Conversation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실행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err="1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</a:t>
                      </a:r>
                      <a:r>
                        <a:rPr lang="en-US" altLang="ko-KR" sz="1400" baseline="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 Agent → Tool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실행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 Agent → Evaluation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실행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Orchestrator Agent →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전체 흐름 제어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6968066" y="855504"/>
            <a:ext cx="479213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# Dual-Layer RACI Matrix (Human + Agent Visible)</a:t>
            </a:r>
          </a:p>
          <a:p>
            <a:endParaRPr lang="ko-KR" altLang="en-US" sz="1400" dirty="0" smtClean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Legend</a:t>
            </a: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H-A = Human Accountable (최종 책임)</a:t>
            </a: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H-R = Human Responsible (실행 책임)</a:t>
            </a: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A-R = Agent Responsible (실행 Agent)</a:t>
            </a: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A-S = Supporting Agent</a:t>
            </a:r>
          </a:p>
        </p:txBody>
      </p:sp>
    </p:spTree>
    <p:extLst>
      <p:ext uri="{BB962C8B-B14F-4D97-AF65-F5344CB8AC3E}">
        <p14:creationId xmlns:p14="http://schemas.microsoft.com/office/powerpoint/2010/main" val="86038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52071"/>
            <a:ext cx="1946367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 smtClean="0"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Vision &amp; Role </a:t>
            </a:r>
            <a:r>
              <a:rPr lang="ko-KR" altLang="en-US" sz="1600" dirty="0" smtClean="0"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정의</a:t>
            </a:r>
            <a:endParaRPr lang="ko-KR" altLang="en-US" sz="1600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326166" y="6012418"/>
            <a:ext cx="5346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Vision </a:t>
            </a:r>
            <a:r>
              <a:rPr lang="ko-KR" altLang="en-US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단계에서는 </a:t>
            </a:r>
            <a:r>
              <a:rPr lang="en-US" altLang="ko-KR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Agent</a:t>
            </a:r>
            <a:r>
              <a:rPr lang="ko-KR" altLang="en-US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는 주로 </a:t>
            </a:r>
            <a:r>
              <a:rPr lang="en-US" altLang="ko-KR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Support </a:t>
            </a:r>
            <a:r>
              <a:rPr lang="ko-KR" altLang="en-US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역할입니다</a:t>
            </a:r>
            <a:r>
              <a:rPr lang="en-US" altLang="ko-KR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214120"/>
              </p:ext>
            </p:extLst>
          </p:nvPr>
        </p:nvGraphicFramePr>
        <p:xfrm>
          <a:off x="623885" y="1190624"/>
          <a:ext cx="11085510" cy="4429126"/>
        </p:xfrm>
        <a:graphic>
          <a:graphicData uri="http://schemas.openxmlformats.org/drawingml/2006/table">
            <a:tbl>
              <a:tblPr/>
              <a:tblGrid>
                <a:gridCol w="1020312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</a:tblGrid>
              <a:tr h="515433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Detailed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Step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Human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433"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PM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Architect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UIUX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Frontend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Backend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Test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Orchestra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UIUX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Test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8495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Problem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Framing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H-A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95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Persona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Definition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H-A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95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Success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Metric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H-A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95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 Role Mapping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H-A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latin typeface="휴먼모음T" panose="02030504000101010101" pitchFamily="18" charset="-127"/>
                <a:ea typeface="휴먼모음T" panose="02030504000101010101" pitchFamily="18" charset="-127"/>
                <a:cs typeface="Open Sans"/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9518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52071"/>
            <a:ext cx="2229456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2. Agent Workflow </a:t>
            </a:r>
            <a:r>
              <a:rPr lang="ko-KR" altLang="en-US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단계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92321"/>
              </p:ext>
            </p:extLst>
          </p:nvPr>
        </p:nvGraphicFramePr>
        <p:xfrm>
          <a:off x="623888" y="1190625"/>
          <a:ext cx="11088686" cy="4429124"/>
        </p:xfrm>
        <a:graphic>
          <a:graphicData uri="http://schemas.openxmlformats.org/drawingml/2006/table">
            <a:tbl>
              <a:tblPr/>
              <a:tblGrid>
                <a:gridCol w="1039812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</a:tblGrid>
              <a:tr h="472705">
                <a:tc row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</a:t>
                      </a: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945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1451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Interaction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Flow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Draft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51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Conversation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Turn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51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Decision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Gate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70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Loop &amp;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Retry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Rule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51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Invocation </a:t>
                      </a: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Flow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70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Escalation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Rule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23888" y="5737910"/>
            <a:ext cx="110886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ko-KR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Architect = </a:t>
            </a:r>
            <a:r>
              <a:rPr lang="ko-KR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설계 </a:t>
            </a:r>
            <a:r>
              <a:rPr 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오너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    </a:t>
            </a:r>
          </a:p>
          <a:p>
            <a:pPr algn="ctr"/>
            <a:r>
              <a:rPr lang="ko-KR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Orchestrator </a:t>
            </a:r>
            <a:r>
              <a:rPr lang="ko-KR" altLang="ko-KR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 = </a:t>
            </a:r>
            <a:r>
              <a:rPr lang="ko-KR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실제 흐름 실행</a:t>
            </a:r>
          </a:p>
        </p:txBody>
      </p:sp>
      <p:sp>
        <p:nvSpPr>
          <p:cNvPr id="12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5404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54075"/>
            <a:ext cx="1705916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3. Capability </a:t>
            </a:r>
            <a:r>
              <a:rPr lang="ko-KR" altLang="en-US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구축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988467"/>
              </p:ext>
            </p:extLst>
          </p:nvPr>
        </p:nvGraphicFramePr>
        <p:xfrm>
          <a:off x="623891" y="1196976"/>
          <a:ext cx="11088684" cy="4427537"/>
        </p:xfrm>
        <a:graphic>
          <a:graphicData uri="http://schemas.openxmlformats.org/drawingml/2006/table">
            <a:tbl>
              <a:tblPr/>
              <a:tblGrid>
                <a:gridCol w="1039809"/>
                <a:gridCol w="808305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</a:tblGrid>
              <a:tr h="497476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76">
                <a:tc vMerge="1">
                  <a:txBody>
                    <a:bodyPr/>
                    <a:lstStyle/>
                    <a:p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467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System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</a:t>
                      </a:r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7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</a:t>
                      </a:r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7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Interface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7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Memory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Architecture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7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Interaction 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Schema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7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Guardrail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ko-KR" alt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적용</a:t>
                      </a:r>
                      <a:endParaRPr lang="ko-KR" alt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3378808" y="5949950"/>
            <a:ext cx="5448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 Agent</a:t>
            </a:r>
            <a:r>
              <a:rPr lang="ko-KR" altLang="en-US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는 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 Schema</a:t>
            </a:r>
            <a:r>
              <a:rPr lang="ko-KR" altLang="en-US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에서 핵심 실행자입니다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.</a:t>
            </a:r>
            <a:endParaRPr lang="ko-KR" altLang="en-US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8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3448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36613"/>
            <a:ext cx="1931939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4. Simulation </a:t>
            </a:r>
            <a:r>
              <a:rPr lang="ko-KR" altLang="en-US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테스트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078666"/>
              </p:ext>
            </p:extLst>
          </p:nvPr>
        </p:nvGraphicFramePr>
        <p:xfrm>
          <a:off x="623890" y="1196975"/>
          <a:ext cx="11088684" cy="4427537"/>
        </p:xfrm>
        <a:graphic>
          <a:graphicData uri="http://schemas.openxmlformats.org/drawingml/2006/table">
            <a:tbl>
              <a:tblPr/>
              <a:tblGrid>
                <a:gridCol w="1039810"/>
                <a:gridCol w="808304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</a:tblGrid>
              <a:tr h="525245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24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37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Scenario </a:t>
                      </a:r>
                      <a:r>
                        <a:rPr lang="ko-KR" alt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endParaRPr lang="ko-KR" alt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33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Role-play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Simulation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7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Conflict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7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Failure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7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Evaluation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Report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3626762" y="5949950"/>
            <a:ext cx="4553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Simulation</a:t>
            </a:r>
            <a:r>
              <a:rPr lang="ko-KR" altLang="en-US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은 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 + Orchestrator </a:t>
            </a:r>
            <a:r>
              <a:rPr lang="ko-KR" altLang="en-US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중심입니다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.</a:t>
            </a:r>
            <a:endParaRPr lang="ko-KR" altLang="en-US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8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587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58421"/>
            <a:ext cx="2258952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5. Deploy &amp; Monitoring</a:t>
            </a:r>
            <a:endParaRPr lang="ko-KR" altLang="en-US" sz="1600" dirty="0">
              <a:solidFill>
                <a:schemeClr val="bg1"/>
              </a:solidFill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524571"/>
              </p:ext>
            </p:extLst>
          </p:nvPr>
        </p:nvGraphicFramePr>
        <p:xfrm>
          <a:off x="623890" y="1196976"/>
          <a:ext cx="11088684" cy="4427537"/>
        </p:xfrm>
        <a:graphic>
          <a:graphicData uri="http://schemas.openxmlformats.org/drawingml/2006/table">
            <a:tbl>
              <a:tblPr/>
              <a:tblGrid>
                <a:gridCol w="1039810"/>
                <a:gridCol w="808304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</a:tblGrid>
              <a:tr h="51317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50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778">
                <a:tc v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9714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Deployment Pipeline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73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Logging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Setup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14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Observability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Setup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73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Runtime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Control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2664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36613"/>
            <a:ext cx="1768433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6. Evolution Loop</a:t>
            </a:r>
            <a:endParaRPr lang="ko-KR" altLang="en-US" sz="1600" dirty="0">
              <a:solidFill>
                <a:schemeClr val="bg1"/>
              </a:solidFill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720542"/>
              </p:ext>
            </p:extLst>
          </p:nvPr>
        </p:nvGraphicFramePr>
        <p:xfrm>
          <a:off x="623890" y="1196975"/>
          <a:ext cx="11088684" cy="4427539"/>
        </p:xfrm>
        <a:graphic>
          <a:graphicData uri="http://schemas.openxmlformats.org/drawingml/2006/table">
            <a:tbl>
              <a:tblPr/>
              <a:tblGrid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</a:tblGrid>
              <a:tr h="58257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571">
                <a:tc v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5825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Trajectory Log </a:t>
                      </a:r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수집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34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Behavior Evaluation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34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Adjustment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57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Workflow Patch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5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ko-KR" alt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개선 </a:t>
                      </a:r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반영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62050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AI </a:t>
            </a:r>
            <a:r>
              <a:rPr lang="en-US" altLang="ko-KR" dirty="0"/>
              <a:t>Agent Dual-Layer Organization Structure (Human + Agent)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23888" y="1213048"/>
            <a:ext cx="4814138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HUMAN ORGANIZATION LAYER (Governance / Decision)</a:t>
            </a:r>
          </a:p>
        </p:txBody>
      </p:sp>
      <p:sp>
        <p:nvSpPr>
          <p:cNvPr id="7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1" y="2205038"/>
            <a:ext cx="1797050" cy="414720"/>
          </a:xfrm>
          <a:prstGeom prst="roundRect">
            <a:avLst>
              <a:gd name="adj" fmla="val 95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Project Manager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8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1" y="3446080"/>
            <a:ext cx="1797050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Architect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9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9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UI/UX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0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1491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1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093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Backend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2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896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cxnSp>
        <p:nvCxnSpPr>
          <p:cNvPr id="14" name="직선 연결선 13"/>
          <p:cNvCxnSpPr>
            <a:stCxn id="7" idx="2"/>
            <a:endCxn id="8" idx="0"/>
          </p:cNvCxnSpPr>
          <p:nvPr/>
        </p:nvCxnSpPr>
        <p:spPr>
          <a:xfrm>
            <a:off x="3279776" y="2619758"/>
            <a:ext cx="0" cy="82632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8" idx="2"/>
            <a:endCxn id="9" idx="0"/>
          </p:cNvCxnSpPr>
          <p:nvPr/>
        </p:nvCxnSpPr>
        <p:spPr>
          <a:xfrm rot="5400000">
            <a:off x="1950494" y="3132798"/>
            <a:ext cx="601280" cy="2057285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8" idx="2"/>
            <a:endCxn id="10" idx="0"/>
          </p:cNvCxnSpPr>
          <p:nvPr/>
        </p:nvCxnSpPr>
        <p:spPr>
          <a:xfrm rot="5400000">
            <a:off x="2614295" y="3796599"/>
            <a:ext cx="601280" cy="72968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8" idx="2"/>
            <a:endCxn id="11" idx="0"/>
          </p:cNvCxnSpPr>
          <p:nvPr/>
        </p:nvCxnSpPr>
        <p:spPr>
          <a:xfrm rot="16200000" flipH="1">
            <a:off x="3278095" y="3862480"/>
            <a:ext cx="601280" cy="5979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8" idx="2"/>
            <a:endCxn id="12" idx="0"/>
          </p:cNvCxnSpPr>
          <p:nvPr/>
        </p:nvCxnSpPr>
        <p:spPr>
          <a:xfrm rot="16200000" flipH="1">
            <a:off x="3979997" y="3160579"/>
            <a:ext cx="601280" cy="200172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324163" y="2850634"/>
            <a:ext cx="23323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Vision / Strategy / Approval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23888" y="5370493"/>
            <a:ext cx="51038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UIUX : Persona / Interaction Design</a:t>
            </a:r>
            <a:b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 : UI Engineering / Human Interface Layer </a:t>
            </a:r>
          </a:p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Backend : Tool / API / Runtime</a:t>
            </a:r>
            <a:b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 : Quality / Evaluation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4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0051" y="2205038"/>
            <a:ext cx="1797050" cy="414720"/>
          </a:xfrm>
          <a:prstGeom prst="roundRect">
            <a:avLst>
              <a:gd name="adj" fmla="val 950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 Orchestrator Agent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5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0051" y="3446080"/>
            <a:ext cx="1797050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Architect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6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9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UI/UX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7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0291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8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7893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Backend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9" name="Rect 01">
            <a:extLst>
              <a:ext uri="{FF2B5EF4-FFF2-40B4-BE49-F238E27FC236}">
                <a16:creationId xmlns:a16="http://schemas.microsoft.com/office/drawing/2014/main" xmlns="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1696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cxnSp>
        <p:nvCxnSpPr>
          <p:cNvPr id="40" name="직선 연결선 39"/>
          <p:cNvCxnSpPr>
            <a:stCxn id="34" idx="2"/>
            <a:endCxn id="35" idx="0"/>
          </p:cNvCxnSpPr>
          <p:nvPr/>
        </p:nvCxnSpPr>
        <p:spPr>
          <a:xfrm>
            <a:off x="8918576" y="2619758"/>
            <a:ext cx="0" cy="82632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35" idx="2"/>
            <a:endCxn id="36" idx="0"/>
          </p:cNvCxnSpPr>
          <p:nvPr/>
        </p:nvCxnSpPr>
        <p:spPr>
          <a:xfrm rot="5400000">
            <a:off x="7589294" y="3132798"/>
            <a:ext cx="601280" cy="2057285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35" idx="2"/>
            <a:endCxn id="37" idx="0"/>
          </p:cNvCxnSpPr>
          <p:nvPr/>
        </p:nvCxnSpPr>
        <p:spPr>
          <a:xfrm rot="5400000">
            <a:off x="8253095" y="3796599"/>
            <a:ext cx="601280" cy="72968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>
            <a:stCxn id="35" idx="2"/>
            <a:endCxn id="38" idx="0"/>
          </p:cNvCxnSpPr>
          <p:nvPr/>
        </p:nvCxnSpPr>
        <p:spPr>
          <a:xfrm rot="16200000" flipH="1">
            <a:off x="8916895" y="3862480"/>
            <a:ext cx="601280" cy="5979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35" idx="2"/>
            <a:endCxn id="39" idx="0"/>
          </p:cNvCxnSpPr>
          <p:nvPr/>
        </p:nvCxnSpPr>
        <p:spPr>
          <a:xfrm rot="16200000" flipH="1">
            <a:off x="9618797" y="3160579"/>
            <a:ext cx="601280" cy="200172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6096000" y="5427643"/>
            <a:ext cx="53303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UIUX </a:t>
            </a: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 : Conversation &amp; Persona Execution</a:t>
            </a:r>
            <a:b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 Agent : UI Schema / Layout Generation ⭐</a:t>
            </a:r>
            <a:b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Backend Agent : Tool Execution / Integration</a:t>
            </a:r>
            <a:b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 Agent : Simulation / Evaluation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9013763" y="2888734"/>
            <a:ext cx="12939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Control Panel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096000" y="1213048"/>
            <a:ext cx="481413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 ORGANIZATION LAYER (Execution / Automation)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623888" y="1520825"/>
            <a:ext cx="5345112" cy="486092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095999" y="1520825"/>
            <a:ext cx="5616575" cy="486092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78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</TotalTime>
  <Words>1471</Words>
  <Application>Microsoft Office PowerPoint</Application>
  <PresentationFormat>와이드스크린</PresentationFormat>
  <Paragraphs>787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HY동녘M</vt:lpstr>
      <vt:lpstr>Open Sans</vt:lpstr>
      <vt:lpstr>Gulim</vt:lpstr>
      <vt:lpstr>맑은 고딕</vt:lpstr>
      <vt:lpstr>맑은 고딕</vt:lpstr>
      <vt:lpstr>휴먼모음T</vt:lpstr>
      <vt:lpstr>Arial</vt:lpstr>
      <vt:lpstr>Helvetica</vt:lpstr>
      <vt:lpstr>Wingdings</vt:lpstr>
      <vt:lpstr>Office 테마</vt:lpstr>
      <vt:lpstr>PowerPoint 프레젠테이션</vt:lpstr>
      <vt:lpstr>1. AI Agent 방법론 개요</vt:lpstr>
      <vt:lpstr>2. R&amp;R 및 산출물 &gt; 1. Vision &amp; Role 정의 단계 / 2. Agent Workflow 단계</vt:lpstr>
      <vt:lpstr>2. R&amp;R 및 산출물 &gt; 3.Capability 구축 / 4.Simulation Test</vt:lpstr>
      <vt:lpstr>2. R&amp;R 및 산출물 &gt; 5. Deploy &amp; Monitoring / 6. Evolution Loop  </vt:lpstr>
      <vt:lpstr>3. Human-AI RACI Matrix </vt:lpstr>
      <vt:lpstr>3. Human-AI RACI Matrix </vt:lpstr>
      <vt:lpstr>3. Human-AI RACI Matrix </vt:lpstr>
      <vt:lpstr>3. Human-AI RACI Matrix </vt:lpstr>
      <vt:lpstr>3. Human-AI RACI Matrix </vt:lpstr>
      <vt:lpstr>3. Human-AI RACI Matrix </vt:lpstr>
      <vt:lpstr>3. Human-AI RACI Matrix </vt:lpstr>
      <vt:lpstr>4. AI Agent Dual-Layer Organization Structure (Human + Agent)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29</cp:revision>
  <dcterms:created xsi:type="dcterms:W3CDTF">2026-02-22T04:14:41Z</dcterms:created>
  <dcterms:modified xsi:type="dcterms:W3CDTF">2026-03-01T05:41:01Z</dcterms:modified>
</cp:coreProperties>
</file>