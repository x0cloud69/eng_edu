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86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280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</a:rPr>
              <a:t>Phase 1  완성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Cursor Context Package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BDDFF"/>
                </a:solidFill>
              </a:rPr>
              <a:t>.cursor  구성 및 활용 가이드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77724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DAA"/>
                </a:solidFill>
              </a:rPr>
              <a:t>rules/    </a:t>
            </a:r>
            <a:r>
              <a:rPr lang="en-US" sz="1100" dirty="0">
                <a:solidFill>
                  <a:srgbClr val="CCDDEE"/>
                </a:solidFill>
              </a:rPr>
              <a:t>4개  (00_master · 01_principles · 02_security · 03_context_management)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DAA"/>
                </a:solidFill>
              </a:rPr>
              <a:t>context/  </a:t>
            </a:r>
            <a:r>
              <a:rPr lang="en-US" sz="1100" dirty="0">
                <a:solidFill>
                  <a:srgbClr val="CCDDEE"/>
                </a:solidFill>
              </a:rPr>
              <a:t>7개  (project · persona · rr_matrix · governance · hitl · charter · operation_standards)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총 11개 파일  ·  Phase 1 Vision &amp; Role 정의 완성본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</a:rPr>
              <a:t>KY Song  ·  2026  ·  AI METHODOLOGY Ver 1.0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</a:rPr>
              <a:t>AI METHODOLOGY  Ver 1.0  |  KY Song  ·  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.cursor 전체 구성 한눈에 보기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</a:rPr>
              <a:t>11개 파일이 하는 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384048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51560"/>
            <a:ext cx="384048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rules/  —  Cursor AI 자동 적용 규칙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3566160" cy="640080"/>
          </a:xfrm>
          <a:prstGeom prst="rect">
            <a:avLst/>
          </a:prstGeom>
          <a:solidFill>
            <a:srgbClr val="F4F7FB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508760"/>
            <a:ext cx="73152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5361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</a:rPr>
              <a:t>00_master.mdc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0352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</a:rPr>
              <a:t>프로젝트 정의 · 기술스택 · 코딩규칙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</a:rPr>
              <a:t>Authority Level 코드 기준 · 공통 금지사항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3566160" cy="640080"/>
          </a:xfrm>
          <a:prstGeom prst="rect">
            <a:avLst/>
          </a:prstGeom>
          <a:solidFill>
            <a:srgbClr val="F4F7FB"/>
          </a:solidFill>
          <a:ln w="10160">
            <a:solidFill>
              <a:srgbClr val="1E6B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40280"/>
            <a:ext cx="73152" cy="64008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2677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B2E"/>
                </a:solidFill>
              </a:rPr>
              <a:t>01_principles.mdc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0352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</a:rPr>
              <a:t>운영 5대 원칙 (최상위 기준)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3566160" cy="640080"/>
          </a:xfrm>
          <a:prstGeom prst="rect">
            <a:avLst/>
          </a:prstGeom>
          <a:solidFill>
            <a:srgbClr val="F4F7FB"/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71800"/>
            <a:ext cx="73152" cy="6400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9992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</a:rPr>
              <a:t>02_security.mdc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0352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</a:rPr>
              <a:t>데이터 분류 · 접근 통제 · 보안 규칙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703320"/>
            <a:ext cx="3566160" cy="640080"/>
          </a:xfrm>
          <a:prstGeom prst="rect">
            <a:avLst/>
          </a:prstGeom>
          <a:solidFill>
            <a:srgbClr val="F4F7FB"/>
          </a:solidFill>
          <a:ln w="10160">
            <a:solidFill>
              <a:srgbClr val="C4591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703320"/>
            <a:ext cx="73152" cy="640080"/>
          </a:xfrm>
          <a:prstGeom prst="rect">
            <a:avLst/>
          </a:prstGeom>
          <a:solidFill>
            <a:srgbClr val="C45911"/>
          </a:solidFill>
          <a:ln w="12700">
            <a:solidFill>
              <a:srgbClr val="C459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730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5911"/>
                </a:solidFill>
              </a:rPr>
              <a:t>03_context_management.mdc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0352" y="3977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</a:rPr>
              <a:t>3계층 Context 구조 · 변경 통제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46320" y="1051560"/>
            <a:ext cx="40233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6B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1051560"/>
            <a:ext cx="4023360" cy="347472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context/  —  @로 참조하는 데이터</a:t>
            </a:r>
            <a:endParaRPr lang="en-US" sz="1100" dirty="0"/>
          </a:p>
        </p:txBody>
      </p:sp>
      <p:grpSp>
        <p:nvGrpSpPr>
          <p:cNvPr id="53" name="그룹 52"/>
          <p:cNvGrpSpPr/>
          <p:nvPr/>
        </p:nvGrpSpPr>
        <p:grpSpPr>
          <a:xfrm>
            <a:off x="4937760" y="1508760"/>
            <a:ext cx="3749040" cy="2941320"/>
            <a:chOff x="4937760" y="1508760"/>
            <a:chExt cx="3749040" cy="3072384"/>
          </a:xfrm>
        </p:grpSpPr>
        <p:sp>
          <p:nvSpPr>
            <p:cNvPr id="30" name="Shape 28"/>
            <p:cNvSpPr/>
            <p:nvPr/>
          </p:nvSpPr>
          <p:spPr>
            <a:xfrm>
              <a:off x="4937760" y="1508760"/>
              <a:ext cx="3749040" cy="384048"/>
            </a:xfrm>
            <a:prstGeom prst="rect">
              <a:avLst/>
            </a:prstGeom>
            <a:solidFill>
              <a:srgbClr val="EBF3FB"/>
            </a:solidFill>
            <a:ln w="6350">
              <a:solidFill>
                <a:srgbClr val="BBCFDF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5074920" y="1527048"/>
              <a:ext cx="21945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E3A5F"/>
                  </a:solidFill>
                </a:rPr>
                <a:t>project_context.json</a:t>
              </a:r>
              <a:endParaRPr lang="en-US" sz="9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7269480" y="1527048"/>
              <a:ext cx="1371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595959"/>
                  </a:solidFill>
                </a:rPr>
                <a:t>1.1.1  Problem Definition</a:t>
              </a:r>
              <a:endParaRPr lang="en-US" sz="85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4937760" y="1956816"/>
              <a:ext cx="3749040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BCFDF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5074920" y="1975104"/>
              <a:ext cx="21945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E3A5F"/>
                  </a:solidFill>
                </a:rPr>
                <a:t>persona_context.json</a:t>
              </a:r>
              <a:endParaRPr lang="en-US" sz="9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7269480" y="1975104"/>
              <a:ext cx="1371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595959"/>
                  </a:solidFill>
                </a:rPr>
                <a:t>1.2    Persona 5개 + Scenario</a:t>
              </a:r>
              <a:endParaRPr lang="en-US" sz="85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4937760" y="2404872"/>
              <a:ext cx="3749040" cy="384048"/>
            </a:xfrm>
            <a:prstGeom prst="rect">
              <a:avLst/>
            </a:prstGeom>
            <a:solidFill>
              <a:srgbClr val="EBF3FB"/>
            </a:solidFill>
            <a:ln w="6350">
              <a:solidFill>
                <a:srgbClr val="BBCFDF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5074920" y="2423160"/>
              <a:ext cx="21945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E3A5F"/>
                  </a:solidFill>
                </a:rPr>
                <a:t>rr_matrix_context.json</a:t>
              </a:r>
              <a:endParaRPr lang="en-US" sz="9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269480" y="2423160"/>
              <a:ext cx="1371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595959"/>
                  </a:solidFill>
                </a:rPr>
                <a:t>1.3    Agent R&amp;R Matrix (7개)</a:t>
              </a:r>
              <a:endParaRPr lang="en-US" sz="85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4937760" y="2852928"/>
              <a:ext cx="3749040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BCFDF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5074920" y="2871216"/>
              <a:ext cx="21945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E3A5F"/>
                  </a:solidFill>
                </a:rPr>
                <a:t>governance.json</a:t>
              </a:r>
              <a:endParaRPr lang="en-US" sz="9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7269480" y="2871216"/>
              <a:ext cx="1371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595959"/>
                  </a:solidFill>
                </a:rPr>
                <a:t>1.4    Authority Model 포함</a:t>
              </a:r>
              <a:endParaRPr lang="en-US" sz="85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4937760" y="3300984"/>
              <a:ext cx="3749040" cy="384048"/>
            </a:xfrm>
            <a:prstGeom prst="rect">
              <a:avLst/>
            </a:prstGeom>
            <a:solidFill>
              <a:srgbClr val="EBF3FB"/>
            </a:solidFill>
            <a:ln w="6350">
              <a:solidFill>
                <a:srgbClr val="BBCFDF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5074920" y="3319272"/>
              <a:ext cx="21945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E3A5F"/>
                  </a:solidFill>
                </a:rPr>
                <a:t>hitl_context.json</a:t>
              </a:r>
              <a:endParaRPr lang="en-US" sz="9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7269480" y="3319272"/>
              <a:ext cx="1371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595959"/>
                  </a:solidFill>
                </a:rPr>
                <a:t>1.5    HITL 3패턴 + ApprovalGate</a:t>
              </a:r>
              <a:endParaRPr lang="en-US" sz="85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4937760" y="3749040"/>
              <a:ext cx="3749040" cy="3840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BCFDF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5074920" y="3767328"/>
              <a:ext cx="21945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E3A5F"/>
                  </a:solidFill>
                </a:rPr>
                <a:t>governance_charter.json</a:t>
              </a:r>
              <a:endParaRPr lang="en-US" sz="9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7269480" y="3767328"/>
              <a:ext cx="1371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595959"/>
                  </a:solidFill>
                </a:rPr>
                <a:t>1.6    거버넌스 헌장</a:t>
              </a:r>
              <a:endParaRPr lang="en-US" sz="85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4937760" y="4197096"/>
              <a:ext cx="3749040" cy="384048"/>
            </a:xfrm>
            <a:prstGeom prst="rect">
              <a:avLst/>
            </a:prstGeom>
            <a:solidFill>
              <a:srgbClr val="EBF3FB"/>
            </a:solidFill>
            <a:ln w="6350">
              <a:solidFill>
                <a:srgbClr val="BBCFDF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5074920" y="4215384"/>
              <a:ext cx="21945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1E3A5F"/>
                  </a:solidFill>
                </a:rPr>
                <a:t>operation_standards.json</a:t>
              </a:r>
              <a:endParaRPr lang="en-US" sz="9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7269480" y="4215384"/>
              <a:ext cx="13716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595959"/>
                  </a:solidFill>
                </a:rPr>
                <a:t>0_0~C  운영 표준</a:t>
              </a:r>
              <a:endParaRPr lang="en-US" sz="850" dirty="0"/>
            </a:p>
          </p:txBody>
        </p:sp>
      </p:grpSp>
      <p:sp>
        <p:nvSpPr>
          <p:cNvPr id="51" name="Shape 49"/>
          <p:cNvSpPr/>
          <p:nvPr/>
        </p:nvSpPr>
        <p:spPr>
          <a:xfrm>
            <a:off x="4114800" y="2788920"/>
            <a:ext cx="7315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4114800" y="2606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5B6"/>
                </a:solidFill>
              </a:rPr>
              <a:t>참조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AI METHODOLOGY  Ver 1.0  |  KY Song  ·  2026</a:t>
            </a:r>
            <a:endParaRPr lang="en-US" sz="7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rules/  —  Cursor AI 자동 적용 규칙 4개</a:t>
            </a:r>
            <a:endParaRPr lang="en-US" sz="22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코드 생성 시 항상 자동으로 적용됨 · 우선순위 순서</a:t>
            </a:r>
            <a:endParaRPr lang="en-US" sz="11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05840"/>
            <a:ext cx="41148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058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1순위  00_master.mdc  —  마스터 규칙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137160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92075" indent="-92075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프로젝트 한 줄 정의: AI-Native 통합 시스템 프레임워크 표준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92075" indent="-92075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기술 스택: Python+FastAPI / TypeScript+React / PostgreSQL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92075" indent="-92075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코딩 규칙: BaseAgent 상속 · useAgent 훅 · any 금지 · 트랜잭션 필수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92075" indent="-92075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Authority Level 코드 기준: L0(조회만) L1(승인게이트) L2(조건부) L3(Override엔드포인트)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92075" indent="-92075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공통 금지: 승인 게이트 없는 L1+ 자동 실행 · Audit Log 없는 상태 변경 · API Key 하드코딩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92075" indent="-92075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참조 context 7개 전체 목록 포함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1480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E6B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058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2순위  01_principles.mdc  —  운영 5대 원칙 (절대 기준)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92040" y="137160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92075" indent="-92075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원칙1. 전략과 실행의 분리 — Agent 함수 내 전략 판단 로직 직접 작성 금지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92075" indent="-92075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원칙2. 최소 권한 — allowed_scope 외 실행 시 즉시 Escalation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92075" indent="-92075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원칙3. 감사 가능성 우선 — 모든 실행 → audit_logs INSERT 필수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92075" indent="-92075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원칙4. 리스크 기반 통제 — Risk Level 체크 모든 Agent 필수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92075" indent="-92075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원칙5. 지속적 개선 내재화 — trajectory_logs → Evolution Loop 연계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11480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71800"/>
            <a:ext cx="4114800" cy="3200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718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3순위  02_security.mdc  —  보안/데이터 (절대 위반 금지)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1480" y="333756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92075" indent="-92075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데이터 4등급: Public / Internal / Sensitive / Restricted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92075" indent="-92075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Sensitive 이상: 저장·전송 시 암호화 필수 / Restricted: 익명화 후 사용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92075" indent="-92075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RBAC 모든 API 엔드포인트 적용 / API Key 환경변수 관리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92075" indent="-92075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Prompt Injection 방어 필수 / 외부 입력값 검증 후 사용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411480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459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971800"/>
            <a:ext cx="4114800" cy="320040"/>
          </a:xfrm>
          <a:prstGeom prst="rect">
            <a:avLst/>
          </a:prstGeom>
          <a:solidFill>
            <a:srgbClr val="C45911"/>
          </a:solidFill>
          <a:ln w="12700">
            <a:solidFill>
              <a:srgbClr val="C459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9718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4순위  03_context_management.mdc  —  Context 관리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92040" y="333756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92075" indent="-92075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3계층 구조: Global Strategic → Agent-Specific → Runtime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92075" indent="-92075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Agent: 실행 전 Global Context 반드시 로드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92075" indent="-92075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Runtime Context는 Global·Agent Context 변경 불가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92075" indent="-92075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Context 변경 6단계 절차 (Governance 승인 + Regression Test 필수)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AI METHODOLOGY  Ver 1.0  |  KY Song  ·  2026</a:t>
            </a:r>
            <a:endParaRPr lang="en-US" sz="7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context/  —  Phase 1 산출물 JSON  (1/2)</a:t>
            </a:r>
            <a:endParaRPr lang="en-US" sz="22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project · persona · rr_matrix · governance</a:t>
            </a:r>
            <a:endParaRPr lang="en-US" sz="11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005840"/>
            <a:ext cx="420624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058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project_context.json  </a:t>
            </a:r>
            <a:r>
              <a:rPr lang="en-US" sz="950" dirty="0">
                <a:solidFill>
                  <a:srgbClr val="CCDD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WBS 1.1.1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8328" y="13258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Problem Definition</a:t>
            </a:r>
            <a:endParaRPr lang="en-US" sz="9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8328" y="15727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95959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주요 키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328" y="17190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problem.statement  ·  stakeholders[]  ·  kpi[]  ·  scope  ·  constraints  ·  tech_stack  ·  governance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38328" y="2057400"/>
            <a:ext cx="3977640" cy="685800"/>
          </a:xfrm>
          <a:prstGeom prst="rect">
            <a:avLst/>
          </a:prstGeom>
          <a:solidFill>
            <a:srgbClr val="EBF3FB"/>
          </a:solidFill>
          <a:ln w="6350">
            <a:solidFill>
              <a:srgbClr val="BBCF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0756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5B6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💬 Cursor 활용 예시</a:t>
            </a:r>
            <a:endParaRPr lang="en-US" sz="7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1480" y="22585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@project_context.json 기반으로 API 엔드포인트 설계해줘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09160" y="1005840"/>
            <a:ext cx="420624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1005840"/>
            <a:ext cx="4206240" cy="2926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058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persona_context.json  </a:t>
            </a:r>
            <a:r>
              <a:rPr lang="en-US" sz="950" dirty="0">
                <a:solidFill>
                  <a:srgbClr val="CCDD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WBS 1.2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18888" y="13258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1B9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Persona 5개 + Scenario 4개</a:t>
            </a:r>
            <a:endParaRPr lang="en-US" sz="9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18888" y="15727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95959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주요 키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18888" y="17190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personas[5]  ·  scenarios[4]  ·  context_requirements[10]  ·  ai_intervention_summary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18888" y="2057400"/>
            <a:ext cx="3977640" cy="685800"/>
          </a:xfrm>
          <a:prstGeom prst="rect">
            <a:avLst/>
          </a:prstGeom>
          <a:solidFill>
            <a:srgbClr val="EBF3FB"/>
          </a:solidFill>
          <a:ln w="6350">
            <a:solidFill>
              <a:srgbClr val="BBCF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0756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5B6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💬 Cursor 활용 예시</a:t>
            </a:r>
            <a:endParaRPr lang="en-US" sz="7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92040" y="22585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@persona_context.json 의 P2 Pain Point 기반으로 공통 모듈 설계해줘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28600" y="3017520"/>
            <a:ext cx="420624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6B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3017520"/>
            <a:ext cx="4206240" cy="292608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175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rr_matrix_context.json  </a:t>
            </a:r>
            <a:r>
              <a:rPr lang="en-US" sz="950" dirty="0">
                <a:solidFill>
                  <a:srgbClr val="CCDD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WBS 1.3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38328" y="33375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6B2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Agent R&amp;R Matrix — 7개 Agent</a:t>
            </a:r>
            <a:endParaRPr lang="en-US" sz="9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38328" y="35844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95959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주요 키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38328" y="37307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raci_legend  ·  human_roles[6]  ·  agents[7]  ·  absolute_human_responsibilities  ·  phase_raci_summary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38328" y="4069080"/>
            <a:ext cx="3977640" cy="685800"/>
          </a:xfrm>
          <a:prstGeom prst="rect">
            <a:avLst/>
          </a:prstGeom>
          <a:solidFill>
            <a:srgbClr val="EBF3FB"/>
          </a:solidFill>
          <a:ln w="6350">
            <a:solidFill>
              <a:srgbClr val="BBCF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0873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5B6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💬 Cursor 활용 예시</a:t>
            </a:r>
            <a:endParaRPr lang="en-US" sz="7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11480" y="427024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@rr_matrix_context.json 기준으로 Back-A Agent 클래스 만들어줘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709160" y="3017520"/>
            <a:ext cx="4206240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017520"/>
            <a:ext cx="420624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0175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governance.json  </a:t>
            </a:r>
            <a:r>
              <a:rPr lang="en-US" sz="950" dirty="0">
                <a:solidFill>
                  <a:srgbClr val="CCDD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WBS 1.4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818888" y="33375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Authority Model + 거버넌스</a:t>
            </a:r>
            <a:endParaRPr lang="en-US" sz="9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818888" y="35844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95959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주요 키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818888" y="37307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authority_levels{L0~L3}  ·  current_project_governance  ·  agent_authority_model.agents[7]  ·  risk_levels  ·  constraints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818888" y="4069080"/>
            <a:ext cx="3977640" cy="685800"/>
          </a:xfrm>
          <a:prstGeom prst="rect">
            <a:avLst/>
          </a:prstGeom>
          <a:solidFill>
            <a:srgbClr val="EBF3FB"/>
          </a:solidFill>
          <a:ln w="6350">
            <a:solidFill>
              <a:srgbClr val="BBCFD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40873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E75B6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💬 Cursor 활용 예시</a:t>
            </a:r>
            <a:endParaRPr lang="en-US" sz="7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892040" y="427024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@governance.json 의 agent_authority_model 기준으로 Orch Agent 승인 로직 작성해줘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AI METHODOLOGY  Ver 1.0  |  KY Song  ·  2026</a:t>
            </a:r>
            <a:endParaRPr lang="en-US" sz="7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context/  —  Phase 1 산출물 JSON  (2/2)</a:t>
            </a:r>
            <a:endParaRPr lang="en-US" sz="22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hitl · governance_charter · operation_standards</a:t>
            </a:r>
            <a:endParaRPr lang="en-US" sz="11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06240" cy="1979672"/>
          </a:xfrm>
          <a:prstGeom prst="rect">
            <a:avLst/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005840"/>
            <a:ext cx="420624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058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hitl_context.json  </a:t>
            </a:r>
            <a:r>
              <a:rPr lang="en-US" sz="950" dirty="0">
                <a:solidFill>
                  <a:srgbClr val="FFEECC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WBS 1.5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8328" y="13258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Human-in-the-Loop 구조</a:t>
            </a:r>
            <a:endParaRPr lang="en-US" sz="9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8328" y="15727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주요 키: hitl_patterns{P1·P2·P3}  ·  agent_hitl_matrix[7]  ·  db_schema{3 tables}  ·  approval_gate_rules  ·  sla_summary  ·  code_rules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1951120"/>
            <a:ext cx="1207008" cy="972000"/>
          </a:xfrm>
          <a:prstGeom prst="rect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951120"/>
            <a:ext cx="1207008" cy="137160"/>
          </a:xfrm>
          <a:prstGeom prst="rect">
            <a:avLst/>
          </a:prstGeom>
          <a:solidFill>
            <a:srgbClr val="0070C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51120"/>
            <a:ext cx="1207008" cy="137160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P1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2122824"/>
            <a:ext cx="120700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Pre-approval</a:t>
            </a:r>
            <a:endParaRPr lang="en-US" sz="9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20624" y="2384952"/>
            <a:ext cx="109728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실행 전 승인</a:t>
            </a:r>
          </a:p>
          <a:p>
            <a:pPr marL="0" indent="0">
              <a:buNone/>
            </a:pPr>
            <a:r>
              <a:rPr 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SLA: 24h</a:t>
            </a:r>
          </a:p>
          <a:p>
            <a:pPr marL="0" indent="0">
              <a:buNone/>
            </a:pPr>
            <a:r>
              <a:rPr 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Orch · Back-A · Evol-A</a:t>
            </a:r>
          </a:p>
        </p:txBody>
      </p:sp>
      <p:sp>
        <p:nvSpPr>
          <p:cNvPr id="18" name="Shape 16"/>
          <p:cNvSpPr/>
          <p:nvPr/>
        </p:nvSpPr>
        <p:spPr>
          <a:xfrm>
            <a:off x="1664208" y="1951120"/>
            <a:ext cx="1207008" cy="972000"/>
          </a:xfrm>
          <a:prstGeom prst="rect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64208" y="1951120"/>
            <a:ext cx="1207008" cy="137160"/>
          </a:xfrm>
          <a:prstGeom prst="rect">
            <a:avLst/>
          </a:prstGeom>
          <a:solidFill>
            <a:srgbClr val="0070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64208" y="1951120"/>
            <a:ext cx="1207008" cy="137160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P2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683512" y="2122824"/>
            <a:ext cx="1187704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On-risk</a:t>
            </a:r>
            <a:endParaRPr lang="en-US" sz="9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728216" y="2384952"/>
            <a:ext cx="109728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실행 중 이상 감지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SLA: 1h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Orch · Monitor-A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962656" y="1951120"/>
            <a:ext cx="1207008" cy="972000"/>
          </a:xfrm>
          <a:prstGeom prst="rect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62656" y="1951120"/>
            <a:ext cx="1207008" cy="137160"/>
          </a:xfrm>
          <a:prstGeom prst="rect">
            <a:avLst/>
          </a:prstGeom>
          <a:solidFill>
            <a:srgbClr val="0070C0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62656" y="1951120"/>
            <a:ext cx="1207008" cy="137160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P3</a:t>
            </a:r>
            <a:endParaRPr lang="en-US" sz="1100" dirty="0">
              <a:solidFill>
                <a:schemeClr val="accent4">
                  <a:lumMod val="20000"/>
                  <a:lumOff val="80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982976" y="2122824"/>
            <a:ext cx="1186688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Post-review</a:t>
            </a:r>
            <a:endParaRPr lang="en-US" sz="9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035808" y="2384952"/>
            <a:ext cx="109728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실행 후 검토 확정</a:t>
            </a:r>
          </a:p>
          <a:p>
            <a:pPr marL="0" indent="0">
              <a:buNone/>
            </a:pPr>
            <a:r>
              <a:rPr 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SLA: 48h</a:t>
            </a:r>
          </a:p>
          <a:p>
            <a:pPr marL="0" indent="0">
              <a:buNone/>
            </a:pPr>
            <a:r>
              <a:rPr 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Front-A · Test-A · UIUX-A</a:t>
            </a:r>
          </a:p>
        </p:txBody>
      </p:sp>
      <p:sp>
        <p:nvSpPr>
          <p:cNvPr id="32" name="Shape 30"/>
          <p:cNvSpPr/>
          <p:nvPr/>
        </p:nvSpPr>
        <p:spPr>
          <a:xfrm>
            <a:off x="4709160" y="994936"/>
            <a:ext cx="4206240" cy="1977840"/>
          </a:xfrm>
          <a:prstGeom prst="rect">
            <a:avLst/>
          </a:prstGeom>
          <a:solidFill>
            <a:srgbClr val="FFFFFF"/>
          </a:solidFill>
          <a:ln w="15240">
            <a:solidFill>
              <a:srgbClr val="C4591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1005840"/>
            <a:ext cx="4206240" cy="292608"/>
          </a:xfrm>
          <a:prstGeom prst="rect">
            <a:avLst/>
          </a:prstGeom>
          <a:solidFill>
            <a:srgbClr val="C45911"/>
          </a:solidFill>
          <a:ln w="12700">
            <a:solidFill>
              <a:srgbClr val="C459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0058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governance_charter.json  </a:t>
            </a:r>
            <a:r>
              <a:rPr lang="en-US" sz="950" dirty="0">
                <a:solidFill>
                  <a:srgbClr val="FFEECC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WBS 1.6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18888" y="13258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591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거버넌스 헌장 (최상위 기준)</a:t>
            </a:r>
            <a:endParaRPr lang="en-US" sz="9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18888" y="15727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주요 키: five_principles[5]  ·  authority_levels{L0~L3}  ·  forbidden_actions[8]  ·  violation_response  ·  context_change_procedure[6]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818888" y="1890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🚫 절대 금지 사항 8가지</a:t>
            </a:r>
            <a:endParaRPr lang="en-US" sz="9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818888" y="2149086"/>
            <a:ext cx="3931920" cy="709171"/>
          </a:xfrm>
          <a:prstGeom prst="rect">
            <a:avLst/>
          </a:prstGeom>
          <a:noFill/>
          <a:ln/>
        </p:spPr>
        <p:txBody>
          <a:bodyPr wrap="square" numCol="2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62828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✗  승인 없는 자동 실행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62828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✗  Audit Log 없는 상태 변경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62828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✗  Context 무단 수정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62828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✗  Scope 초과 실행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62828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✗  API Key 하드코딩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62828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✗  Restricted 데이터 암호화 없이 저장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62828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✗  로그 DELETE/UPDATE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C62828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✗  회귀 테스트 없이 재배포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28600" y="3104267"/>
            <a:ext cx="86868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59595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3099576"/>
            <a:ext cx="8686800" cy="29260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3099576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operation_standards.json  </a:t>
            </a:r>
            <a:r>
              <a:rPr lang="en-US" sz="950" dirty="0">
                <a:solidFill>
                  <a:srgbClr val="FFEECC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WBS 0_0~0_C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38328" y="3419616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운영 표준 12개 통합본</a:t>
            </a:r>
            <a:endParaRPr lang="en-US" sz="9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683512" y="3419616"/>
            <a:ext cx="6765105" cy="223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주요 키: principles[5]  ·  raci_matrix  ·  authority_levels  ·  risk_management  ·  kpi_monitoring  ·  evolution_loop</a:t>
            </a:r>
          </a:p>
        </p:txBody>
      </p:sp>
      <p:graphicFrame>
        <p:nvGraphicFramePr>
          <p:cNvPr id="67" name="표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082825"/>
              </p:ext>
            </p:extLst>
          </p:nvPr>
        </p:nvGraphicFramePr>
        <p:xfrm>
          <a:off x="365760" y="3743177"/>
          <a:ext cx="8385050" cy="87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010"/>
                <a:gridCol w="1677010"/>
                <a:gridCol w="1677010"/>
                <a:gridCol w="1677010"/>
                <a:gridCol w="1677010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Phase1</a:t>
                      </a:r>
                      <a:r>
                        <a:rPr lang="en-US" altLang="ko-KR" sz="90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(</a:t>
                      </a:r>
                      <a:r>
                        <a:rPr lang="ko-KR" altLang="en-US" sz="90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지금</a:t>
                      </a:r>
                      <a:r>
                        <a:rPr lang="en-US" altLang="ko-KR" sz="90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9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Phase</a:t>
                      </a:r>
                      <a:r>
                        <a:rPr lang="en-US" altLang="ko-KR" sz="90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3</a:t>
                      </a:r>
                      <a:endParaRPr lang="ko-KR" altLang="en-US" sz="9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solidFill>
                            <a:schemeClr val="bg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Phase 4~5</a:t>
                      </a:r>
                      <a:endParaRPr lang="en-US" altLang="ko-KR" sz="900" dirty="0" smtClean="0">
                        <a:solidFill>
                          <a:schemeClr val="bg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solidFill>
                            <a:schemeClr val="bg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Phase 5</a:t>
                      </a:r>
                      <a:endParaRPr lang="en-US" altLang="ko-KR" sz="900" dirty="0" smtClean="0">
                        <a:solidFill>
                          <a:schemeClr val="bg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solidFill>
                            <a:schemeClr val="bg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Phase 6</a:t>
                      </a:r>
                      <a:endParaRPr lang="en-US" altLang="ko-KR" sz="900" dirty="0" smtClean="0">
                        <a:solidFill>
                          <a:schemeClr val="bg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900" b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기본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en-US" altLang="ko-KR" sz="900" b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원칙</a:t>
                      </a:r>
                      <a:endParaRPr lang="en-US" altLang="ko-KR" sz="900" b="0" dirty="0" smtClean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Authority Level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RACI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900" b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멀티에이전트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(0_3) 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900" b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리스크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en-US" altLang="ko-KR" sz="900" b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관리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(0_4)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Release Gate (0_9)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900" b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예외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en-US" altLang="ko-KR" sz="900" b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승인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(0_B)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KPI/</a:t>
                      </a:r>
                      <a:r>
                        <a:rPr lang="en-US" altLang="ko-KR" sz="900" b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모니터링</a:t>
                      </a: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(0_5)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endParaRPr lang="ko-KR" altLang="en-US" sz="90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Evolution Loop (0_6)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AAAA"/>
                </a:solidFill>
              </a:rPr>
              <a:t>AI METHODOLOGY  Ver 1.0  |  KY Song  ·  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Cursor에서 활용하는 방법</a:t>
            </a:r>
            <a:endParaRPr lang="en-US" sz="22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rules는 자동 적용 · context는 @로 직접 참조</a:t>
            </a:r>
            <a:endParaRPr lang="en-US" sz="11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05840"/>
            <a:ext cx="411480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① rules/ — 자동 적용 (별도 호출 불필요)</a:t>
            </a:r>
            <a:endParaRPr lang="en-US" sz="1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13716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Cursor AI 채팅창에 코드 작성 요청만 해도</a:t>
            </a:r>
            <a:endParaRPr lang="en-US" sz="9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.cursor/rules/ 의 4개 파일이 자동으로 적용됩니다.</a:t>
            </a:r>
            <a:endParaRPr lang="en-US" sz="9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" y="2011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예시 프롬프트 (context 언급 없이도 규칙 자동 적용)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480" y="2286000"/>
            <a:ext cx="3749040" cy="320040"/>
          </a:xfrm>
          <a:prstGeom prst="rect">
            <a:avLst/>
          </a:prstGeom>
          <a:solidFill>
            <a:srgbClr val="EBF3FB"/>
          </a:solidFill>
          <a:ln w="12700">
            <a:solidFill>
              <a:srgbClr val="BBCF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3A5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"FastAPI 엔드포인트 만들어줘"</a:t>
            </a:r>
            <a:endParaRPr lang="en-US" sz="9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" y="2670048"/>
            <a:ext cx="3749040" cy="320040"/>
          </a:xfrm>
          <a:prstGeom prst="rect">
            <a:avLst/>
          </a:prstGeom>
          <a:solidFill>
            <a:srgbClr val="EBF3FB"/>
          </a:solidFill>
          <a:ln w="12700">
            <a:solidFill>
              <a:srgbClr val="BBCF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70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3A5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"React 컴포넌트 만들어줘"</a:t>
            </a:r>
            <a:endParaRPr lang="en-US" sz="9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1480" y="3054096"/>
            <a:ext cx="3749040" cy="320040"/>
          </a:xfrm>
          <a:prstGeom prst="rect">
            <a:avLst/>
          </a:prstGeom>
          <a:solidFill>
            <a:srgbClr val="EBF3FB"/>
          </a:solidFill>
          <a:ln w="12700">
            <a:solidFill>
              <a:srgbClr val="BBCF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540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3A5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"DB 테이블 설계해줘"</a:t>
            </a:r>
            <a:endParaRPr lang="en-US" sz="9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1480" y="34930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B2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→ BaseAgent 상속 · any 금지 · audit_logs 필수 · 승인 게이트 자동 포함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11480" y="3913632"/>
            <a:ext cx="3749040" cy="777240"/>
          </a:xfrm>
          <a:prstGeom prst="rect">
            <a:avLst/>
          </a:prstGeom>
          <a:solidFill>
            <a:srgbClr val="FFF8E1"/>
          </a:solidFill>
          <a:ln w="10160">
            <a:solidFill>
              <a:srgbClr val="F57F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31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4591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⚠️  주의</a:t>
            </a:r>
            <a:endParaRPr lang="en-US" sz="8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2920" y="415137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4591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.cursor/rules/ 폴더가 프로젝트 루트에 있어야 자동 적용됩니다.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C4591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C:\my-framework\.cursor\rules\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1E6B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② context/ — @ 로 직접 참조</a:t>
            </a:r>
            <a:endParaRPr lang="en-US" sz="1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00600" y="13716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필요한 context 파일을 @파일명 으로 지정하면</a:t>
            </a:r>
            <a:endParaRPr lang="en-US" sz="9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Cursor AI가 해당 데이터를 읽고 코드에 반영합니다.</a:t>
            </a:r>
            <a:endParaRPr lang="en-US" sz="9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800600" y="2029968"/>
            <a:ext cx="3931920" cy="594360"/>
          </a:xfrm>
          <a:prstGeom prst="rect">
            <a:avLst/>
          </a:prstGeom>
          <a:solidFill>
            <a:srgbClr val="EBF3FB"/>
          </a:solidFill>
          <a:ln w="12700">
            <a:solidFill>
              <a:srgbClr val="BBCF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04825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E3A5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"@persona_context.json 의 P2 Pain Point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800" i="1" dirty="0">
                <a:solidFill>
                  <a:srgbClr val="1E3A5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기반으로 공통 모듈 API 만들어줘"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06640" y="2103120"/>
            <a:ext cx="0" cy="438912"/>
          </a:xfrm>
          <a:prstGeom prst="line">
            <a:avLst/>
          </a:prstGeom>
          <a:noFill/>
          <a:ln w="10160">
            <a:solidFill>
              <a:srgbClr val="BBCF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9792" y="21031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6B2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→ P2 테크리드 Pain Point 자동 반영</a:t>
            </a:r>
            <a:endParaRPr lang="en-US" sz="78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00600" y="2688336"/>
            <a:ext cx="3931920" cy="594360"/>
          </a:xfrm>
          <a:prstGeom prst="rect">
            <a:avLst/>
          </a:prstGeom>
          <a:solidFill>
            <a:srgbClr val="F0FFF4"/>
          </a:solidFill>
          <a:ln w="12700">
            <a:solidFill>
              <a:srgbClr val="BBCF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7066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E3A5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"@rr_matrix_context.json 기준으로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800" i="1" dirty="0">
                <a:solidFill>
                  <a:srgbClr val="1E3A5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Back-A Agent 클래스 만들어줘"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406640" y="2761488"/>
            <a:ext cx="0" cy="438912"/>
          </a:xfrm>
          <a:prstGeom prst="line">
            <a:avLst/>
          </a:prstGeom>
          <a:noFill/>
          <a:ln w="10160">
            <a:solidFill>
              <a:srgbClr val="BBCF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79792" y="27614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6B2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→ allowed/forbidden 자동 적용</a:t>
            </a:r>
            <a:endParaRPr lang="en-US" sz="78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800600" y="3346704"/>
            <a:ext cx="3931920" cy="594360"/>
          </a:xfrm>
          <a:prstGeom prst="rect">
            <a:avLst/>
          </a:prstGeom>
          <a:solidFill>
            <a:srgbClr val="EBF3FB"/>
          </a:solidFill>
          <a:ln w="12700">
            <a:solidFill>
              <a:srgbClr val="BBCF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3649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E3A5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"@hitl_context.json 기준으로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800" i="1" dirty="0">
                <a:solidFill>
                  <a:srgbClr val="1E3A5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ApprovalGate 컴포넌트 만들어줘"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06640" y="3419856"/>
            <a:ext cx="0" cy="438912"/>
          </a:xfrm>
          <a:prstGeom prst="line">
            <a:avLst/>
          </a:prstGeom>
          <a:noFill/>
          <a:ln w="10160">
            <a:solidFill>
              <a:srgbClr val="BBCF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9792" y="341985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6B2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→ P1/P2/P3 패턴 + DB스키마 반영</a:t>
            </a:r>
            <a:endParaRPr lang="en-US" sz="78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800600" y="4005072"/>
            <a:ext cx="3931920" cy="594360"/>
          </a:xfrm>
          <a:prstGeom prst="rect">
            <a:avLst/>
          </a:prstGeom>
          <a:solidFill>
            <a:srgbClr val="F0FFF4"/>
          </a:solidFill>
          <a:ln w="12700">
            <a:solidFill>
              <a:srgbClr val="BBCF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E3A5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"@governance.json 의 Authority Model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800" i="1" dirty="0">
                <a:solidFill>
                  <a:srgbClr val="1E3A5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기준으로 Orch 승인 로직 작성해줘"</a:t>
            </a:r>
            <a:endParaRPr lang="en-US" sz="8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406640" y="4078224"/>
            <a:ext cx="0" cy="438912"/>
          </a:xfrm>
          <a:prstGeom prst="line">
            <a:avLst/>
          </a:prstGeom>
          <a:noFill/>
          <a:ln w="10160">
            <a:solidFill>
              <a:srgbClr val="BBCFD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79792" y="407822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6B2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→ L1 규칙 + 에스컬레이션 자동 반영</a:t>
            </a:r>
            <a:endParaRPr lang="en-US" sz="78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Phase 1  완성  ·  Phase 2 준비</a:t>
            </a:r>
            <a:endParaRPr lang="en-US" sz="1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Cursor Context</a:t>
            </a:r>
            <a:endParaRPr lang="en-US" sz="3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준비 완료</a:t>
            </a:r>
            <a:endParaRPr lang="en-US" sz="34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840480" cy="2651760"/>
          </a:xfrm>
          <a:prstGeom prst="rect">
            <a:avLst/>
          </a:prstGeom>
          <a:solidFill>
            <a:srgbClr val="1E3A5F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DD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Phase 1 산출물 — 전체 완성</a:t>
            </a:r>
            <a:endParaRPr lang="en-US" sz="1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2578608"/>
            <a:ext cx="3566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AFFCC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✅  1.1.1  Problem Definition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AAFFCC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✅  1.2    Persona Spec (5 Persona)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AAFFCC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✅  1.3    Agent R&amp;R Matrix (7 Agent)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AAFFCC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✅  1.4    Authority Model (L1 확정)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AAFFCC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✅  1.5    Human-in-the-Loop 구조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AAFFCC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✅  1.6    Governance Charter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950" b="1" dirty="0">
                <a:solidFill>
                  <a:srgbClr val="FFDDA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✅  Cursor Context 11개 파일 검증 완료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46320" y="2194560"/>
            <a:ext cx="3840480" cy="2651760"/>
          </a:xfrm>
          <a:prstGeom prst="rect">
            <a:avLst/>
          </a:prstGeom>
          <a:solidFill>
            <a:srgbClr val="1E3A5F"/>
          </a:solidFill>
          <a:ln w="10160">
            <a:solidFill>
              <a:srgbClr val="FFDD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DAA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Phase 2 — Agent Workflow 설계</a:t>
            </a:r>
            <a:endParaRPr lang="en-US" sz="10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83480" y="2578608"/>
            <a:ext cx="3566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▷  2.1  Workflow Diagram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▷  2.2  Decision Gate 정의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▷  2.3  Tool Invocation Flow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▷  2.4  Escalation Rule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▷  2.5  Agent Interaction Spec</a:t>
            </a:r>
            <a:endParaRPr lang="en-US" sz="95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788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KY Song  ·  2026  ·  AI METHODOLOGY Ver 1.0</a:t>
            </a:r>
            <a:endParaRPr lang="en-US" sz="900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1166</Words>
  <Application>Microsoft Office PowerPoint</Application>
  <PresentationFormat>화면 슬라이드 쇼(16:9)</PresentationFormat>
  <Paragraphs>193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맑은 고딕</vt:lpstr>
      <vt:lpstr>휴먼모음T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Cursor Context Package — Phase 1 설명</dc:title>
  <dc:subject>PptxGenJS Presentation</dc:subject>
  <dc:creator>KY Song</dc:creator>
  <cp:lastModifiedBy>Microsoft 계정</cp:lastModifiedBy>
  <cp:revision>5</cp:revision>
  <dcterms:created xsi:type="dcterms:W3CDTF">2026-03-06T05:17:30Z</dcterms:created>
  <dcterms:modified xsi:type="dcterms:W3CDTF">2026-03-06T05:45:55Z</dcterms:modified>
</cp:coreProperties>
</file>